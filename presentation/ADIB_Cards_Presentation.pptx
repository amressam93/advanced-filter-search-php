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4206240" cy="8755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46888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003366"/>
                </a:solidFill>
                <a:latin typeface="Calibri"/>
              </a:rPr>
              <a:t>ADIB Cards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5B6672"/>
                </a:solidFill>
                <a:latin typeface="Calibri"/>
              </a:rPr>
              <a:t>Premium banking, designed around you.</a:t>
            </a:r>
          </a:p>
          <a:p>
            <a:pPr algn="l"/>
            <a:r>
              <a:rPr sz="1600" b="0">
                <a:solidFill>
                  <a:srgbClr val="5B6672"/>
                </a:solidFill>
                <a:latin typeface="Calibri"/>
              </a:rPr>
              <a:t>A simple look at our Platinum, Titanium and Classic cards.</a:t>
            </a:r>
          </a:p>
        </p:txBody>
      </p:sp>
      <p:pic>
        <p:nvPicPr>
          <p:cNvPr id="5" name="Picture 4" descr="cards_th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65735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003366"/>
                </a:solidFill>
                <a:latin typeface="Calibri"/>
              </a:rPr>
              <a:t>Our Card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5B6672"/>
                </a:solidFill>
                <a:latin typeface="Calibri"/>
              </a:rPr>
              <a:t>Three tiers, one promise – secure, contactless and built for everyday life.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338328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d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171" y="2926080"/>
            <a:ext cx="290285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489204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Classic</a:t>
            </a:r>
          </a:p>
          <a:p>
            <a:pPr algn="ctr"/>
            <a:r>
              <a:rPr sz="1400" b="0">
                <a:solidFill>
                  <a:srgbClr val="5B6672"/>
                </a:solidFill>
                <a:latin typeface="Calibri"/>
              </a:rPr>
              <a:t>Everyday essentials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651760"/>
            <a:ext cx="338328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rd_titan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491" y="2926080"/>
            <a:ext cx="2902857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489204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Titanium</a:t>
            </a:r>
          </a:p>
          <a:p>
            <a:pPr algn="ctr"/>
            <a:r>
              <a:rPr sz="1400" b="0">
                <a:solidFill>
                  <a:srgbClr val="5B6672"/>
                </a:solidFill>
                <a:latin typeface="Calibri"/>
              </a:rPr>
              <a:t>More rewards &amp; travel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651760"/>
            <a:ext cx="338328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rd_platin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811" y="2926080"/>
            <a:ext cx="2902857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58200" y="489204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Platinum</a:t>
            </a:r>
          </a:p>
          <a:p>
            <a:pPr algn="ctr"/>
            <a:r>
              <a:rPr sz="1400" b="0">
                <a:solidFill>
                  <a:srgbClr val="5B6672"/>
                </a:solidFill>
                <a:latin typeface="Calibri"/>
              </a:rPr>
              <a:t>Premium privileges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rd_platin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66748"/>
            <a:ext cx="5394960" cy="3398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PLATINUM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344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003366"/>
                </a:solidFill>
                <a:latin typeface="Calibri"/>
              </a:rPr>
              <a:t>Platinum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57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9ABE2"/>
                </a:solidFill>
                <a:latin typeface="Calibri"/>
              </a:rPr>
              <a:t>Premium privileges, worldwide.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834640"/>
            <a:ext cx="52120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Airport lounge access</a:t>
            </a:r>
            <a:r>
              <a:rPr sz="1700">
                <a:solidFill>
                  <a:srgbClr val="5B6672"/>
                </a:solidFill>
                <a:latin typeface="Calibri"/>
              </a:rPr>
              <a:t>  at major global hubs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Higher limits</a:t>
            </a:r>
            <a:r>
              <a:rPr sz="1700">
                <a:solidFill>
                  <a:srgbClr val="5B6672"/>
                </a:solidFill>
                <a:latin typeface="Calibri"/>
              </a:rPr>
              <a:t>  for bigger plans and purchases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Travel &amp; purchase protection</a:t>
            </a:r>
            <a:r>
              <a:rPr sz="1700">
                <a:solidFill>
                  <a:srgbClr val="5B6672"/>
                </a:solidFill>
                <a:latin typeface="Calibri"/>
              </a:rPr>
              <a:t>  included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Concierge support</a:t>
            </a:r>
            <a:r>
              <a:rPr sz="1700">
                <a:solidFill>
                  <a:srgbClr val="5B6672"/>
                </a:solidFill>
                <a:latin typeface="Calibri"/>
              </a:rPr>
              <a:t>  available 24/7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rd_titan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66748"/>
            <a:ext cx="5394960" cy="3398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TITANIUM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003366"/>
                </a:solidFill>
                <a:latin typeface="Calibri"/>
              </a:rPr>
              <a:t>Titanium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9ABE2"/>
                </a:solidFill>
                <a:latin typeface="Calibri"/>
              </a:rPr>
              <a:t>More rewards on the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52120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Accelerated rewards</a:t>
            </a:r>
            <a:r>
              <a:rPr sz="1700">
                <a:solidFill>
                  <a:srgbClr val="5B6672"/>
                </a:solidFill>
                <a:latin typeface="Calibri"/>
              </a:rPr>
              <a:t>  on everyday spend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Global acceptance</a:t>
            </a:r>
            <a:r>
              <a:rPr sz="1700">
                <a:solidFill>
                  <a:srgbClr val="5B6672"/>
                </a:solidFill>
                <a:latin typeface="Calibri"/>
              </a:rPr>
              <a:t>  wherever Mastercard is welcome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Contactless &amp; secure</a:t>
            </a:r>
            <a:r>
              <a:rPr sz="1700">
                <a:solidFill>
                  <a:srgbClr val="5B6672"/>
                </a:solidFill>
                <a:latin typeface="Calibri"/>
              </a:rPr>
              <a:t>  tap to pay in seconds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Smart spend controls</a:t>
            </a:r>
            <a:r>
              <a:rPr sz="1700">
                <a:solidFill>
                  <a:srgbClr val="5B6672"/>
                </a:solidFill>
                <a:latin typeface="Calibri"/>
              </a:rPr>
              <a:t>  in the ADIB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rd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66748"/>
            <a:ext cx="5394960" cy="3398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CLASSIC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344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>
                <a:solidFill>
                  <a:srgbClr val="003366"/>
                </a:solidFill>
                <a:latin typeface="Calibri"/>
              </a:rPr>
              <a:t>Classic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57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9ABE2"/>
                </a:solidFill>
                <a:latin typeface="Calibri"/>
              </a:rPr>
              <a:t>Your everyday essentials.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834640"/>
            <a:ext cx="52120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Simple, low-cost</a:t>
            </a:r>
            <a:r>
              <a:rPr sz="1700">
                <a:solidFill>
                  <a:srgbClr val="5B6672"/>
                </a:solidFill>
                <a:latin typeface="Calibri"/>
              </a:rPr>
              <a:t>  banking for daily life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Secure chip &amp; PIN</a:t>
            </a:r>
            <a:r>
              <a:rPr sz="1700">
                <a:solidFill>
                  <a:srgbClr val="5B6672"/>
                </a:solidFill>
                <a:latin typeface="Calibri"/>
              </a:rPr>
              <a:t>  with EMV protection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Contactless payments</a:t>
            </a:r>
            <a:r>
              <a:rPr sz="1700">
                <a:solidFill>
                  <a:srgbClr val="5B6672"/>
                </a:solidFill>
                <a:latin typeface="Calibri"/>
              </a:rPr>
              <a:t>  fast and easy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29ABE2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Full control</a:t>
            </a:r>
            <a:r>
              <a:rPr sz="1700">
                <a:solidFill>
                  <a:srgbClr val="5B6672"/>
                </a:solidFill>
                <a:latin typeface="Calibri"/>
              </a:rPr>
              <a:t>  manage anytime in the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WHY ADIB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3366"/>
                </a:solidFill>
                <a:latin typeface="Calibri"/>
              </a:rPr>
              <a:t>Built Around Four Simple Promises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16636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28016" cy="178308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359152"/>
            <a:ext cx="45262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Secure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672"/>
                </a:solidFill>
                <a:latin typeface="Calibri"/>
              </a:rPr>
              <a:t>EMV chip, PIN and real-time fraud monitoring keep you safe.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2103120"/>
            <a:ext cx="516636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2103120"/>
            <a:ext cx="128016" cy="178308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359152"/>
            <a:ext cx="45262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Contactless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672"/>
                </a:solidFill>
                <a:latin typeface="Calibri"/>
              </a:rPr>
              <a:t>Tap to pay in seconds, in stores and online.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06240"/>
            <a:ext cx="516636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4206240"/>
            <a:ext cx="128016" cy="178308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462272"/>
            <a:ext cx="45262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Rewarding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672"/>
                </a:solidFill>
                <a:latin typeface="Calibri"/>
              </a:rPr>
              <a:t>Earn value on the spending you already 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4206240"/>
            <a:ext cx="516636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4206240"/>
            <a:ext cx="128016" cy="178308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462272"/>
            <a:ext cx="45262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03366"/>
                </a:solidFill>
                <a:latin typeface="Calibri"/>
              </a:rPr>
              <a:t>Sharia-compliant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672"/>
                </a:solidFill>
                <a:latin typeface="Calibri"/>
              </a:rPr>
              <a:t>Banking that aligns with your values.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9ABE2"/>
                </a:solidFill>
                <a:latin typeface="Calibri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3366"/>
                </a:solidFill>
                <a:latin typeface="Calibri"/>
              </a:rPr>
              <a:t>Compare the Cards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194560"/>
                <a:gridCol w="2194560"/>
                <a:gridCol w="2194560"/>
              </a:tblGrid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164592" marR="91440" marT="54864" marB="54864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Classic</a:t>
                      </a:r>
                    </a:p>
                  </a:txBody>
                  <a:tcPr marL="164592" marR="91440" marT="54864" marB="54864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Titanium</a:t>
                      </a:r>
                    </a:p>
                  </a:txBody>
                  <a:tcPr marL="164592" marR="91440" marT="54864" marB="54864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Platinum</a:t>
                      </a:r>
                    </a:p>
                  </a:txBody>
                  <a:tcPr marL="164592" marR="91440" marT="54864" marB="54864" anchor="ctr"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A37"/>
                          </a:solidFill>
                          <a:latin typeface="Calibri"/>
                        </a:rPr>
                        <a:t>Contactless payments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A37"/>
                          </a:solidFill>
                          <a:latin typeface="Calibri"/>
                        </a:rPr>
                        <a:t>Rewards rate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Higher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Highest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A37"/>
                          </a:solidFill>
                          <a:latin typeface="Calibri"/>
                        </a:rPr>
                        <a:t>Travel benefits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Selected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Extensive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A37"/>
                          </a:solidFill>
                          <a:latin typeface="Calibri"/>
                        </a:rPr>
                        <a:t>Airport lounge access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Included</a:t>
                      </a:r>
                    </a:p>
                  </a:txBody>
                  <a:tcPr marL="164592" marR="91440" marT="54864" marB="54864" anchor="ctr">
                    <a:solidFill>
                      <a:srgbClr val="F4F6F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A37"/>
                          </a:solidFill>
                          <a:latin typeface="Calibri"/>
                        </a:rPr>
                        <a:t>Concierge service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5B6672"/>
                          </a:solidFill>
                          <a:latin typeface="Calibri"/>
                        </a:rPr>
                        <a:t>24/7</a:t>
                      </a:r>
                    </a:p>
                  </a:txBody>
                  <a:tcPr marL="164592" marR="91440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277295" y="635508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>
                <a:solidFill>
                  <a:srgbClr val="5B66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827338"/>
            <a:ext cx="4846320" cy="10087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566160"/>
            <a:ext cx="9418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/>
            <a:r>
              <a:rPr sz="2000" b="0">
                <a:solidFill>
                  <a:srgbClr val="29ABE2"/>
                </a:solidFill>
                <a:latin typeface="Calibri"/>
              </a:rPr>
              <a:t>Choose the ADIB card that fits your life.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B8C6D8"/>
                </a:solidFill>
                <a:latin typeface="Calibri"/>
              </a:rPr>
              <a:t>www.adib.ae   |   Abu Dhabi Islamic Bank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
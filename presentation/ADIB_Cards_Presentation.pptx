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00112"/>
            <a:ext cx="3566160" cy="6686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965960"/>
            <a:ext cx="1371600" cy="54864"/>
          </a:xfrm>
          <a:prstGeom prst="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4023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 Semibold"/>
              </a:rPr>
              <a:t>ADIB Cards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E9F3FB"/>
                </a:solidFill>
                <a:latin typeface="Segoe UI"/>
              </a:rPr>
              <a:t>Smart, Sharia-compliant cards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E9F3FB"/>
                </a:solidFill>
                <a:latin typeface="Segoe UI"/>
              </a:rPr>
              <a:t>for the way you live and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A5E3"/>
                </a:solidFill>
                <a:latin typeface="Segoe UI"/>
              </a:rPr>
              <a:t>Banking as it should be</a:t>
            </a:r>
          </a:p>
        </p:txBody>
      </p:sp>
      <p:pic>
        <p:nvPicPr>
          <p:cNvPr id="8" name="Picture 7" descr="cards_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776085"/>
            <a:ext cx="6492240" cy="33972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49240" y="58064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36372"/>
                </a:solidFill>
                <a:latin typeface="Segoe UI"/>
              </a:rPr>
              <a:t>Blue   •   Titanium   •   Platinum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0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22909"/>
            <a:ext cx="2560320" cy="480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0"/>
            <a:ext cx="73152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 Semibold"/>
              </a:rPr>
              <a:t>Why ADIB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36372"/>
                </a:solidFill>
                <a:latin typeface="Segoe UI"/>
              </a:rPr>
              <a:t>ADIB cards are designed to be simple, rewarding and secure — giving you real cash back on everyday spending while staying fully Sharia-compliant.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383280"/>
            <a:ext cx="640080" cy="109728"/>
          </a:xfrm>
          <a:prstGeom prst="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788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3360"/>
                </a:solidFill>
                <a:latin typeface="Segoe UI Semibold"/>
              </a:rPr>
              <a:t>Cash Back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003360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36372"/>
                </a:solidFill>
                <a:latin typeface="Segoe UI"/>
              </a:rPr>
              <a:t>Earn on every local purchase, with no minimum or maximum limit.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718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00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3383280"/>
            <a:ext cx="64008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703320"/>
            <a:ext cx="2788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Sharia-Compliant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E9F3FB"/>
                </a:solidFill>
                <a:latin typeface="Segoe UI"/>
              </a:rPr>
              <a:t>MasterCard cards issued in line with Islamic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97180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00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3383280"/>
            <a:ext cx="640080" cy="109728"/>
          </a:xfrm>
          <a:prstGeom prst="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703320"/>
            <a:ext cx="2788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 Semibold"/>
              </a:rPr>
              <a:t>Secure &amp; Global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E9F3FB"/>
                </a:solidFill>
                <a:latin typeface="Segoe UI"/>
              </a:rPr>
              <a:t>Contactless chip technology, accepted worldwide.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372"/>
                </a:solidFill>
                <a:latin typeface="Segoe UI"/>
              </a:rPr>
              <a:t>ADIB  |  Banking as it should 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tinum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80561"/>
            <a:ext cx="5486400" cy="3696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5EA8"/>
                </a:solidFill>
                <a:latin typeface="Segoe UI"/>
              </a:rPr>
              <a:t>ADIB Platinum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86868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B2A3A"/>
                </a:solidFill>
                <a:latin typeface="Segoe UI Semibold"/>
              </a:rPr>
              <a:t>Platinum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5EA8"/>
                </a:solidFill>
                <a:latin typeface="Segoe UI Semibold"/>
              </a:rPr>
              <a:t>Cash Back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2331720"/>
            <a:ext cx="1371600" cy="54864"/>
          </a:xfrm>
          <a:prstGeom prst="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46520" y="2697480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697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679192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Generous cash back on all your local spending.</a:t>
            </a:r>
          </a:p>
        </p:txBody>
      </p:sp>
      <p:sp>
        <p:nvSpPr>
          <p:cNvPr id="10" name="Oval 9"/>
          <p:cNvSpPr/>
          <p:nvPr/>
        </p:nvSpPr>
        <p:spPr>
          <a:xfrm>
            <a:off x="6446520" y="3447288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4472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42900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No minimum or maximum cash-back limits.</a:t>
            </a:r>
          </a:p>
        </p:txBody>
      </p:sp>
      <p:sp>
        <p:nvSpPr>
          <p:cNvPr id="13" name="Oval 12"/>
          <p:cNvSpPr/>
          <p:nvPr/>
        </p:nvSpPr>
        <p:spPr>
          <a:xfrm>
            <a:off x="6446520" y="4197096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970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1788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Contactless payments for fast, secure checkout.</a:t>
            </a:r>
          </a:p>
        </p:txBody>
      </p:sp>
      <p:sp>
        <p:nvSpPr>
          <p:cNvPr id="16" name="Oval 15"/>
          <p:cNvSpPr/>
          <p:nvPr/>
        </p:nvSpPr>
        <p:spPr>
          <a:xfrm>
            <a:off x="6446520" y="4946904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9469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928616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Worldwide acceptance on the MasterCard network.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5696712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6967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5678424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Optional Takaful cover for added peace of mind.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372"/>
                </a:solidFill>
                <a:latin typeface="Segoe UI"/>
              </a:rPr>
              <a:t>ADIB  |  Banking as it should 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36792" y="0"/>
            <a:ext cx="5852160" cy="6858000"/>
          </a:xfrm>
          <a:prstGeom prst="rect">
            <a:avLst/>
          </a:prstGeom>
          <a:solidFill>
            <a:srgbClr val="1C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anium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5595"/>
            <a:ext cx="5486400" cy="37468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6400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2A5E3"/>
                </a:solidFill>
                <a:latin typeface="Segoe UI"/>
              </a:rPr>
              <a:t>ADIB Titanium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B2A3A"/>
                </a:solidFill>
                <a:latin typeface="Segoe UI Semibold"/>
              </a:rPr>
              <a:t>Titanium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05EA8"/>
                </a:solidFill>
                <a:latin typeface="Segoe UI Semibold"/>
              </a:rPr>
              <a:t>Cash Back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1371600" cy="54864"/>
          </a:xfrm>
          <a:prstGeom prst="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2697480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79192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Premium card with cash back on every purchase.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47288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4728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2900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Spend locally and globally with total freedom.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197096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970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1788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Latest chip &amp; contactless security technology.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946904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9469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928616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Sharia-compliant MasterCard you can trust.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5696712"/>
            <a:ext cx="457200" cy="457200"/>
          </a:xfrm>
          <a:prstGeom prst="ellipse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6967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678424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536372"/>
                </a:solidFill>
                <a:latin typeface="Segoe UI"/>
              </a:rPr>
              <a:t>Flexible installment plans of 3 / 6 / 9 / 12 months.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372"/>
                </a:solidFill>
                <a:latin typeface="Segoe UI"/>
              </a:rPr>
              <a:t>ADIB  |  Banking as it should 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0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22909"/>
            <a:ext cx="2560320" cy="4800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0"/>
            <a:ext cx="73152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 Semibold"/>
              </a:rPr>
              <a:t>Choose Your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10607040" cy="603504"/>
          </a:xfrm>
          <a:prstGeom prst="rect">
            <a:avLst/>
          </a:prstGeom>
          <a:solidFill>
            <a:srgbClr val="00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5029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59" y="1737360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Platinum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19" y="1737360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Titanium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40864"/>
            <a:ext cx="106070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40864"/>
            <a:ext cx="5029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A3A"/>
                </a:solidFill>
                <a:latin typeface="Segoe UI"/>
              </a:rPr>
              <a:t>Cash back on local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340864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2340864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44368"/>
            <a:ext cx="10607040" cy="603504"/>
          </a:xfrm>
          <a:prstGeom prst="rect">
            <a:avLst/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44368"/>
            <a:ext cx="5029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A3A"/>
                </a:solidFill>
                <a:latin typeface="Segoe UI"/>
              </a:rPr>
              <a:t>No min / max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944368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2944368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547872"/>
            <a:ext cx="106070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47872"/>
            <a:ext cx="5029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A3A"/>
                </a:solidFill>
                <a:latin typeface="Segoe UI"/>
              </a:rPr>
              <a:t>Contactless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3547872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3547872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51376"/>
            <a:ext cx="10607040" cy="603504"/>
          </a:xfrm>
          <a:prstGeom prst="rect">
            <a:avLst/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151376"/>
            <a:ext cx="5029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A3A"/>
                </a:solidFill>
                <a:latin typeface="Segoe UI"/>
              </a:rPr>
              <a:t>Global MasterCard acceptance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4151376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19" y="4151376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754880"/>
            <a:ext cx="106070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754880"/>
            <a:ext cx="5029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A3A"/>
                </a:solidFill>
                <a:latin typeface="Segoe UI"/>
              </a:rPr>
              <a:t>Installment plans (3-12 months)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4754880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19" y="4754880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358384"/>
            <a:ext cx="10607040" cy="603504"/>
          </a:xfrm>
          <a:prstGeom prst="rect">
            <a:avLst/>
          </a:prstGeom>
          <a:solidFill>
            <a:srgbClr val="E9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358384"/>
            <a:ext cx="5029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B2A3A"/>
                </a:solidFill>
                <a:latin typeface="Segoe UI"/>
              </a:rPr>
              <a:t>Takaful protection (optional)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358384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19" y="5358384"/>
            <a:ext cx="26517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5EA8"/>
                </a:solidFill>
                <a:latin typeface="Segoe UI"/>
              </a:rP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372"/>
                </a:solidFill>
                <a:latin typeface="Segoe UI"/>
              </a:rPr>
              <a:t>ADIB  |  Banking as it should 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B2A3A"/>
                </a:solidFill>
                <a:latin typeface="Segoe UI Semibold"/>
              </a:rPr>
              <a:t>Benefits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417320"/>
            <a:ext cx="1463040" cy="54864"/>
          </a:xfrm>
          <a:prstGeom prst="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611880" cy="178308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12700">
            <a:solidFill>
              <a:srgbClr val="E9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28016" cy="1783080"/>
          </a:xfrm>
          <a:prstGeom prst="round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84832"/>
            <a:ext cx="2971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3360"/>
                </a:solidFill>
                <a:latin typeface="Segoe UI Semibold"/>
              </a:rPr>
              <a:t>Real Cash Back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500" b="0">
                <a:solidFill>
                  <a:srgbClr val="003360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36372"/>
                </a:solidFill>
                <a:latin typeface="Segoe UI"/>
              </a:rPr>
              <a:t>Get rewarded on every local purchase you make.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828800"/>
            <a:ext cx="3611880" cy="178308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12700">
            <a:solidFill>
              <a:srgbClr val="E9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62272" y="1828800"/>
            <a:ext cx="128016" cy="1783080"/>
          </a:xfrm>
          <a:prstGeom prst="round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2" y="2084832"/>
            <a:ext cx="2971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3360"/>
                </a:solidFill>
                <a:latin typeface="Segoe UI Semibold"/>
              </a:rPr>
              <a:t>100% Sharia-Compliant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500" b="0">
                <a:solidFill>
                  <a:srgbClr val="003360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36372"/>
                </a:solidFill>
                <a:latin typeface="Segoe UI"/>
              </a:rPr>
              <a:t>Cards structured in line with Islamic principles.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0184" y="1828800"/>
            <a:ext cx="3611880" cy="178308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12700">
            <a:solidFill>
              <a:srgbClr val="E9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30184" y="1828800"/>
            <a:ext cx="128016" cy="1783080"/>
          </a:xfrm>
          <a:prstGeom prst="round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084832"/>
            <a:ext cx="2971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3360"/>
                </a:solidFill>
                <a:latin typeface="Segoe UI Semibold"/>
              </a:rPr>
              <a:t>Smart Security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500" b="0">
                <a:solidFill>
                  <a:srgbClr val="003360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36372"/>
                </a:solidFill>
                <a:latin typeface="Segoe UI"/>
              </a:rPr>
              <a:t>Chip &amp; contactless protection on every payment.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67912"/>
            <a:ext cx="3611880" cy="178308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12700">
            <a:solidFill>
              <a:srgbClr val="E9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867912"/>
            <a:ext cx="128016" cy="1783080"/>
          </a:xfrm>
          <a:prstGeom prst="round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2971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3360"/>
                </a:solidFill>
                <a:latin typeface="Segoe UI Semibold"/>
              </a:rPr>
              <a:t>Pay in Installments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500" b="0">
                <a:solidFill>
                  <a:srgbClr val="003360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36372"/>
                </a:solidFill>
                <a:latin typeface="Segoe UI"/>
              </a:rPr>
              <a:t>Split purchases over 3, 6, 9 or 12 months.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2272" y="3867912"/>
            <a:ext cx="3611880" cy="178308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12700">
            <a:solidFill>
              <a:srgbClr val="E9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62272" y="3867912"/>
            <a:ext cx="128016" cy="1783080"/>
          </a:xfrm>
          <a:prstGeom prst="round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4123944"/>
            <a:ext cx="2971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3360"/>
                </a:solidFill>
                <a:latin typeface="Segoe UI Semibold"/>
              </a:rPr>
              <a:t>Global Acceptance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500" b="0">
                <a:solidFill>
                  <a:srgbClr val="003360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36372"/>
                </a:solidFill>
                <a:latin typeface="Segoe UI"/>
              </a:rPr>
              <a:t>Use your card anywhere MasterCard is welcome.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4" y="3867912"/>
            <a:ext cx="3611880" cy="1783080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12700">
            <a:solidFill>
              <a:srgbClr val="E9F3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0184" y="3867912"/>
            <a:ext cx="128016" cy="1783080"/>
          </a:xfrm>
          <a:prstGeom prst="round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4123944"/>
            <a:ext cx="2971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003360"/>
                </a:solidFill>
                <a:latin typeface="Segoe UI Semibold"/>
              </a:rPr>
              <a:t>Takaful Cover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500" b="0">
                <a:solidFill>
                  <a:srgbClr val="003360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36372"/>
                </a:solidFill>
                <a:latin typeface="Segoe UI"/>
              </a:rPr>
              <a:t>Optional protection for total peace of mind.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372"/>
                </a:solidFill>
                <a:latin typeface="Segoe UI"/>
              </a:rPr>
              <a:t>ADIB  |  Banking as it should 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A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531620"/>
            <a:ext cx="36576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628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Apply for your ADIB card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9F3FB"/>
                </a:solidFill>
                <a:latin typeface="Segoe UI"/>
              </a:rPr>
              <a:t>Simple. Rewarding. Sharia-compliant.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58087" y="4800600"/>
            <a:ext cx="3108960" cy="777240"/>
          </a:xfrm>
          <a:prstGeom prst="roundRect">
            <a:avLst>
              <a:gd name="adj" fmla="val 50000"/>
            </a:avLst>
          </a:prstGeom>
          <a:solidFill>
            <a:srgbClr val="00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8087" y="4800600"/>
            <a:ext cx="3108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adib.ae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1367" y="4800600"/>
            <a:ext cx="3108960" cy="777240"/>
          </a:xfrm>
          <a:prstGeom prst="roundRect">
            <a:avLst>
              <a:gd name="adj" fmla="val 50000"/>
            </a:avLst>
          </a:prstGeom>
          <a:solidFill>
            <a:srgbClr val="00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1367" y="4800600"/>
            <a:ext cx="3108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600 543216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4647" y="4800600"/>
            <a:ext cx="3108960" cy="777240"/>
          </a:xfrm>
          <a:prstGeom prst="roundRect">
            <a:avLst>
              <a:gd name="adj" fmla="val 50000"/>
            </a:avLst>
          </a:prstGeom>
          <a:solidFill>
            <a:srgbClr val="00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647" y="4800600"/>
            <a:ext cx="3108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ADIB 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2A5E3"/>
                </a:solidFill>
                <a:latin typeface="Segoe UI"/>
              </a:rPr>
              <a:t>Banking as it should 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
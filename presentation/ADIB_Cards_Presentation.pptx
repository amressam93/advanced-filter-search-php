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46520" y="777240"/>
            <a:ext cx="5212080" cy="49834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di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00200"/>
            <a:ext cx="4023360" cy="12649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4672" y="3383280"/>
            <a:ext cx="5577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163566"/>
                </a:solidFill>
                <a:latin typeface="Calibri"/>
              </a:rPr>
              <a:t>ADIB Cash Back Cards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4160520"/>
            <a:ext cx="1005840" cy="57150"/>
          </a:xfrm>
          <a:prstGeom prst="roundRect">
            <a:avLst>
              <a:gd name="adj" fmla="val 50000"/>
            </a:avLst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4434840"/>
            <a:ext cx="5303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5A6470"/>
                </a:solidFill>
                <a:latin typeface="Calibri"/>
              </a:rPr>
              <a:t>Simple. Rewarding. Sharia-compliant.</a:t>
            </a:r>
          </a:p>
        </p:txBody>
      </p:sp>
      <p:pic>
        <p:nvPicPr>
          <p:cNvPr id="8" name="Picture 7" descr="card_class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760000">
            <a:off x="6903720" y="1325880"/>
            <a:ext cx="3566160" cy="2273912"/>
          </a:xfrm>
          <a:prstGeom prst="rect">
            <a:avLst/>
          </a:prstGeom>
        </p:spPr>
      </p:pic>
      <p:pic>
        <p:nvPicPr>
          <p:cNvPr id="9" name="Picture 8" descr="card_titani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180000">
            <a:off x="7269480" y="2057400"/>
            <a:ext cx="3566160" cy="2270381"/>
          </a:xfrm>
          <a:prstGeom prst="rect">
            <a:avLst/>
          </a:prstGeom>
        </p:spPr>
      </p:pic>
      <p:pic>
        <p:nvPicPr>
          <p:cNvPr id="10" name="Picture 9" descr="card_platinu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5240" y="2834640"/>
            <a:ext cx="3566160" cy="225580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63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236208"/>
            <a:ext cx="12191695" cy="54864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6309360"/>
            <a:ext cx="1219169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Abu Dhabi Islamic Bank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di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0015" y="384048"/>
            <a:ext cx="1508760" cy="4743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8778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163566"/>
                </a:solidFill>
                <a:latin typeface="Calibri"/>
              </a:rPr>
              <a:t>About ADIB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170432"/>
            <a:ext cx="777240" cy="57150"/>
          </a:xfrm>
          <a:prstGeom prst="roundRect">
            <a:avLst>
              <a:gd name="adj" fmla="val 50000"/>
            </a:avLst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4000"/>
            <a:ext cx="12191695" cy="254000"/>
          </a:xfrm>
          <a:prstGeom prst="rect">
            <a:avLst/>
          </a:prstGeom>
          <a:solidFill>
            <a:srgbClr val="163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16700"/>
            <a:ext cx="54864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Abu Dhabi Islamic Bank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616700"/>
            <a:ext cx="7315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83080"/>
            <a:ext cx="63093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400" b="1">
                <a:solidFill>
                  <a:srgbClr val="29ABE2"/>
                </a:solidFill>
                <a:latin typeface="Calibri"/>
              </a:rPr>
              <a:t>■  </a:t>
            </a:r>
            <a:r>
              <a:rPr sz="2000">
                <a:solidFill>
                  <a:srgbClr val="2B2B2B"/>
                </a:solidFill>
                <a:latin typeface="Calibri"/>
              </a:rPr>
              <a:t>Abu Dhabi Islamic Bank — a leading Islamic financial institution.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400" b="1">
                <a:solidFill>
                  <a:srgbClr val="29ABE2"/>
                </a:solidFill>
                <a:latin typeface="Calibri"/>
              </a:rPr>
              <a:t>■  </a:t>
            </a:r>
            <a:r>
              <a:rPr sz="2000">
                <a:solidFill>
                  <a:srgbClr val="2B2B2B"/>
                </a:solidFill>
                <a:latin typeface="Calibri"/>
              </a:rPr>
              <a:t>All products and services are fully Sharia-compliant.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400" b="1">
                <a:solidFill>
                  <a:srgbClr val="29ABE2"/>
                </a:solidFill>
                <a:latin typeface="Calibri"/>
              </a:rPr>
              <a:t>■  </a:t>
            </a:r>
            <a:r>
              <a:rPr sz="2000">
                <a:solidFill>
                  <a:srgbClr val="2B2B2B"/>
                </a:solidFill>
                <a:latin typeface="Calibri"/>
              </a:rPr>
              <a:t>Serving customers across the UAE, Egypt and beyond.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400" b="1">
                <a:solidFill>
                  <a:srgbClr val="29ABE2"/>
                </a:solidFill>
                <a:latin typeface="Calibri"/>
              </a:rPr>
              <a:t>■  </a:t>
            </a:r>
            <a:r>
              <a:rPr sz="2000">
                <a:solidFill>
                  <a:srgbClr val="2B2B2B"/>
                </a:solidFill>
                <a:latin typeface="Calibri"/>
              </a:rPr>
              <a:t>A complete range of accounts, finance and card solutions.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400" b="1">
                <a:solidFill>
                  <a:srgbClr val="29ABE2"/>
                </a:solidFill>
                <a:latin typeface="Calibri"/>
              </a:rPr>
              <a:t>■  </a:t>
            </a:r>
            <a:r>
              <a:rPr sz="2000">
                <a:solidFill>
                  <a:srgbClr val="2B2B2B"/>
                </a:solidFill>
                <a:latin typeface="Calibri"/>
              </a:rPr>
              <a:t>Award-winning digital banking experience.</a:t>
            </a:r>
          </a:p>
        </p:txBody>
      </p:sp>
      <p:pic>
        <p:nvPicPr>
          <p:cNvPr id="10" name="Picture 9" descr="card_class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40000">
            <a:off x="7635240" y="2377440"/>
            <a:ext cx="3749039" cy="23905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di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0015" y="384048"/>
            <a:ext cx="1508760" cy="4743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8778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163566"/>
                </a:solidFill>
                <a:latin typeface="Calibri"/>
              </a:rPr>
              <a:t>Our Cash Back Cards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170432"/>
            <a:ext cx="777240" cy="57150"/>
          </a:xfrm>
          <a:prstGeom prst="roundRect">
            <a:avLst>
              <a:gd name="adj" fmla="val 50000"/>
            </a:avLst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4000"/>
            <a:ext cx="12191695" cy="254000"/>
          </a:xfrm>
          <a:prstGeom prst="rect">
            <a:avLst/>
          </a:prstGeom>
          <a:solidFill>
            <a:srgbClr val="163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16700"/>
            <a:ext cx="54864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Abu Dhabi Islamic Bank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616700"/>
            <a:ext cx="7315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630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5A6470"/>
                </a:solidFill>
                <a:latin typeface="Calibri"/>
              </a:rPr>
              <a:t>One family of cards — cash back on every local purchase, with no minimum and no maximum.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447" y="2148840"/>
            <a:ext cx="3383280" cy="3566160"/>
          </a:xfrm>
          <a:prstGeom prst="roundRect">
            <a:avLst>
              <a:gd name="adj" fmla="val 7000"/>
            </a:avLst>
          </a:prstGeom>
          <a:solidFill>
            <a:srgbClr val="F4F7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rd_class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487" y="2514600"/>
            <a:ext cx="2743200" cy="174916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9447" y="4434840"/>
            <a:ext cx="3383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163566"/>
                </a:solidFill>
                <a:latin typeface="Calibri"/>
              </a:rPr>
              <a:t>Classic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447" y="498348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5A6470"/>
                </a:solidFill>
                <a:latin typeface="Calibri"/>
              </a:rPr>
              <a:t>Everyday essentials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04207" y="2148840"/>
            <a:ext cx="3383280" cy="3566160"/>
          </a:xfrm>
          <a:prstGeom prst="roundRect">
            <a:avLst>
              <a:gd name="adj" fmla="val 7000"/>
            </a:avLst>
          </a:prstGeom>
          <a:solidFill>
            <a:srgbClr val="F4F7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ard_titani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4247" y="2514600"/>
            <a:ext cx="2743200" cy="174644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04207" y="4434840"/>
            <a:ext cx="3383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163566"/>
                </a:solidFill>
                <a:latin typeface="Calibri"/>
              </a:rPr>
              <a:t>Titanium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4207" y="498348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5A6470"/>
                </a:solidFill>
                <a:latin typeface="Calibri"/>
              </a:rPr>
              <a:t>More power, more perks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98967" y="2148840"/>
            <a:ext cx="3383280" cy="3566160"/>
          </a:xfrm>
          <a:prstGeom prst="roundRect">
            <a:avLst>
              <a:gd name="adj" fmla="val 7000"/>
            </a:avLst>
          </a:prstGeom>
          <a:solidFill>
            <a:srgbClr val="F4F7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ard_platinu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9007" y="2514600"/>
            <a:ext cx="2743200" cy="173523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98967" y="4434840"/>
            <a:ext cx="3383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163566"/>
                </a:solidFill>
                <a:latin typeface="Calibri"/>
              </a:rPr>
              <a:t>Platinum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8967" y="498348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5A6470"/>
                </a:solidFill>
                <a:latin typeface="Calibri"/>
              </a:rPr>
              <a:t>Premium privileges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di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0015" y="384048"/>
            <a:ext cx="1508760" cy="4743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8778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163566"/>
                </a:solidFill>
                <a:latin typeface="Calibri"/>
              </a:rPr>
              <a:t>Classic Cash Back Card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170432"/>
            <a:ext cx="777240" cy="57150"/>
          </a:xfrm>
          <a:prstGeom prst="roundRect">
            <a:avLst>
              <a:gd name="adj" fmla="val 50000"/>
            </a:avLst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4000"/>
            <a:ext cx="12191695" cy="254000"/>
          </a:xfrm>
          <a:prstGeom prst="rect">
            <a:avLst/>
          </a:prstGeom>
          <a:solidFill>
            <a:srgbClr val="163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16700"/>
            <a:ext cx="54864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Abu Dhabi Islamic Bank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616700"/>
            <a:ext cx="7315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1783080"/>
            <a:ext cx="4709160" cy="4114800"/>
          </a:xfrm>
          <a:prstGeom prst="roundRect">
            <a:avLst>
              <a:gd name="adj" fmla="val 7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rd_class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2606040"/>
            <a:ext cx="3886200" cy="24779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1874519"/>
            <a:ext cx="57607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00" b="1">
                <a:solidFill>
                  <a:srgbClr val="29ABE2"/>
                </a:solidFill>
                <a:latin typeface="Calibri"/>
              </a:rPr>
              <a:t>■  </a:t>
            </a:r>
            <a:r>
              <a:rPr sz="1900">
                <a:solidFill>
                  <a:srgbClr val="2B2B2B"/>
                </a:solidFill>
                <a:latin typeface="Calibri"/>
              </a:rPr>
              <a:t>Cash back on all your local purchases.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00" b="1">
                <a:solidFill>
                  <a:srgbClr val="29ABE2"/>
                </a:solidFill>
                <a:latin typeface="Calibri"/>
              </a:rPr>
              <a:t>■  </a:t>
            </a:r>
            <a:r>
              <a:rPr sz="1900">
                <a:solidFill>
                  <a:srgbClr val="2B2B2B"/>
                </a:solidFill>
                <a:latin typeface="Calibri"/>
              </a:rPr>
              <a:t>No minimum and no maximum cash back limits.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00" b="1">
                <a:solidFill>
                  <a:srgbClr val="29ABE2"/>
                </a:solidFill>
                <a:latin typeface="Calibri"/>
              </a:rPr>
              <a:t>■  </a:t>
            </a:r>
            <a:r>
              <a:rPr sz="1900">
                <a:solidFill>
                  <a:srgbClr val="2B2B2B"/>
                </a:solidFill>
                <a:latin typeface="Calibri"/>
              </a:rPr>
              <a:t>Issued in cooperation with Mastercard.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00" b="1">
                <a:solidFill>
                  <a:srgbClr val="29ABE2"/>
                </a:solidFill>
                <a:latin typeface="Calibri"/>
              </a:rPr>
              <a:t>■  </a:t>
            </a:r>
            <a:r>
              <a:rPr sz="1900">
                <a:solidFill>
                  <a:srgbClr val="2B2B2B"/>
                </a:solidFill>
                <a:latin typeface="Calibri"/>
              </a:rPr>
              <a:t>Fully compliant with Sharia principles.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00" b="1">
                <a:solidFill>
                  <a:srgbClr val="29ABE2"/>
                </a:solidFill>
                <a:latin typeface="Calibri"/>
              </a:rPr>
              <a:t>■  </a:t>
            </a:r>
            <a:r>
              <a:rPr sz="1900">
                <a:solidFill>
                  <a:srgbClr val="2B2B2B"/>
                </a:solidFill>
                <a:latin typeface="Calibri"/>
              </a:rPr>
              <a:t>Contactless — tap and pay anywhere.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di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0015" y="384048"/>
            <a:ext cx="1508760" cy="4743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8778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163566"/>
                </a:solidFill>
                <a:latin typeface="Calibri"/>
              </a:rPr>
              <a:t>Titanium Cash Back Card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170432"/>
            <a:ext cx="777240" cy="57150"/>
          </a:xfrm>
          <a:prstGeom prst="roundRect">
            <a:avLst>
              <a:gd name="adj" fmla="val 50000"/>
            </a:avLst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4000"/>
            <a:ext cx="12191695" cy="254000"/>
          </a:xfrm>
          <a:prstGeom prst="rect">
            <a:avLst/>
          </a:prstGeom>
          <a:solidFill>
            <a:srgbClr val="163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16700"/>
            <a:ext cx="54864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Abu Dhabi Islamic Bank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616700"/>
            <a:ext cx="7315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1783080"/>
            <a:ext cx="4709160" cy="4114800"/>
          </a:xfrm>
          <a:prstGeom prst="roundRect">
            <a:avLst>
              <a:gd name="adj" fmla="val 7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rd_titani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2606040"/>
            <a:ext cx="3886200" cy="247413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1874519"/>
            <a:ext cx="57607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00" b="1">
                <a:solidFill>
                  <a:srgbClr val="29ABE2"/>
                </a:solidFill>
                <a:latin typeface="Calibri"/>
              </a:rPr>
              <a:t>■  </a:t>
            </a:r>
            <a:r>
              <a:rPr sz="1900">
                <a:solidFill>
                  <a:srgbClr val="2B2B2B"/>
                </a:solidFill>
                <a:latin typeface="Calibri"/>
              </a:rPr>
              <a:t>Higher cash back on every local purchase.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00" b="1">
                <a:solidFill>
                  <a:srgbClr val="29ABE2"/>
                </a:solidFill>
                <a:latin typeface="Calibri"/>
              </a:rPr>
              <a:t>■  </a:t>
            </a:r>
            <a:r>
              <a:rPr sz="1900">
                <a:solidFill>
                  <a:srgbClr val="2B2B2B"/>
                </a:solidFill>
                <a:latin typeface="Calibri"/>
              </a:rPr>
              <a:t>No minimum and no maximum cash back limits.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00" b="1">
                <a:solidFill>
                  <a:srgbClr val="29ABE2"/>
                </a:solidFill>
                <a:latin typeface="Calibri"/>
              </a:rPr>
              <a:t>■  </a:t>
            </a:r>
            <a:r>
              <a:rPr sz="1900">
                <a:solidFill>
                  <a:srgbClr val="2B2B2B"/>
                </a:solidFill>
                <a:latin typeface="Calibri"/>
              </a:rPr>
              <a:t>Exclusive Mastercard Titanium offers and discounts.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00" b="1">
                <a:solidFill>
                  <a:srgbClr val="29ABE2"/>
                </a:solidFill>
                <a:latin typeface="Calibri"/>
              </a:rPr>
              <a:t>■  </a:t>
            </a:r>
            <a:r>
              <a:rPr sz="1900">
                <a:solidFill>
                  <a:srgbClr val="2B2B2B"/>
                </a:solidFill>
                <a:latin typeface="Calibri"/>
              </a:rPr>
              <a:t>Fully compliant with Sharia principles.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00" b="1">
                <a:solidFill>
                  <a:srgbClr val="29ABE2"/>
                </a:solidFill>
                <a:latin typeface="Calibri"/>
              </a:rPr>
              <a:t>■  </a:t>
            </a:r>
            <a:r>
              <a:rPr sz="1900">
                <a:solidFill>
                  <a:srgbClr val="2B2B2B"/>
                </a:solidFill>
                <a:latin typeface="Calibri"/>
              </a:rPr>
              <a:t>Accepted worldwide, online and in store.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di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0015" y="384048"/>
            <a:ext cx="1508760" cy="4743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8778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163566"/>
                </a:solidFill>
                <a:latin typeface="Calibri"/>
              </a:rPr>
              <a:t>Platinum Cash Back Card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170432"/>
            <a:ext cx="777240" cy="57150"/>
          </a:xfrm>
          <a:prstGeom prst="roundRect">
            <a:avLst>
              <a:gd name="adj" fmla="val 50000"/>
            </a:avLst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4000"/>
            <a:ext cx="12191695" cy="254000"/>
          </a:xfrm>
          <a:prstGeom prst="rect">
            <a:avLst/>
          </a:prstGeom>
          <a:solidFill>
            <a:srgbClr val="163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16700"/>
            <a:ext cx="54864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Abu Dhabi Islamic Bank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616700"/>
            <a:ext cx="7315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1783080"/>
            <a:ext cx="4709160" cy="4114800"/>
          </a:xfrm>
          <a:prstGeom prst="roundRect">
            <a:avLst>
              <a:gd name="adj" fmla="val 7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rd_platin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2606040"/>
            <a:ext cx="3886200" cy="245824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1874519"/>
            <a:ext cx="57607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00" b="1">
                <a:solidFill>
                  <a:srgbClr val="29ABE2"/>
                </a:solidFill>
                <a:latin typeface="Calibri"/>
              </a:rPr>
              <a:t>■  </a:t>
            </a:r>
            <a:r>
              <a:rPr sz="1900">
                <a:solidFill>
                  <a:srgbClr val="2B2B2B"/>
                </a:solidFill>
                <a:latin typeface="Calibri"/>
              </a:rPr>
              <a:t>Our highest cash back rate on local purchases.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00" b="1">
                <a:solidFill>
                  <a:srgbClr val="29ABE2"/>
                </a:solidFill>
                <a:latin typeface="Calibri"/>
              </a:rPr>
              <a:t>■  </a:t>
            </a:r>
            <a:r>
              <a:rPr sz="1900">
                <a:solidFill>
                  <a:srgbClr val="2B2B2B"/>
                </a:solidFill>
                <a:latin typeface="Calibri"/>
              </a:rPr>
              <a:t>No minimum and no maximum cash back limits.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00" b="1">
                <a:solidFill>
                  <a:srgbClr val="29ABE2"/>
                </a:solidFill>
                <a:latin typeface="Calibri"/>
              </a:rPr>
              <a:t>■  </a:t>
            </a:r>
            <a:r>
              <a:rPr sz="1900">
                <a:solidFill>
                  <a:srgbClr val="2B2B2B"/>
                </a:solidFill>
                <a:latin typeface="Calibri"/>
              </a:rPr>
              <a:t>Premium Mastercard Platinum lifestyle privileges.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00" b="1">
                <a:solidFill>
                  <a:srgbClr val="29ABE2"/>
                </a:solidFill>
                <a:latin typeface="Calibri"/>
              </a:rPr>
              <a:t>■  </a:t>
            </a:r>
            <a:r>
              <a:rPr sz="1900">
                <a:solidFill>
                  <a:srgbClr val="2B2B2B"/>
                </a:solidFill>
                <a:latin typeface="Calibri"/>
              </a:rPr>
              <a:t>Fully compliant with Sharia principles.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00" b="1">
                <a:solidFill>
                  <a:srgbClr val="29ABE2"/>
                </a:solidFill>
                <a:latin typeface="Calibri"/>
              </a:rPr>
              <a:t>■  </a:t>
            </a:r>
            <a:r>
              <a:rPr sz="1900">
                <a:solidFill>
                  <a:srgbClr val="2B2B2B"/>
                </a:solidFill>
                <a:latin typeface="Calibri"/>
              </a:rPr>
              <a:t>Dedicated support and premium services.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di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0015" y="384048"/>
            <a:ext cx="1508760" cy="4743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8778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163566"/>
                </a:solidFill>
                <a:latin typeface="Calibri"/>
              </a:rPr>
              <a:t>Why Choose ADIB Cards?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170432"/>
            <a:ext cx="777240" cy="57150"/>
          </a:xfrm>
          <a:prstGeom prst="roundRect">
            <a:avLst>
              <a:gd name="adj" fmla="val 50000"/>
            </a:avLst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4000"/>
            <a:ext cx="12191695" cy="254000"/>
          </a:xfrm>
          <a:prstGeom prst="rect">
            <a:avLst/>
          </a:prstGeom>
          <a:solidFill>
            <a:srgbClr val="163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16700"/>
            <a:ext cx="54864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Abu Dhabi Islamic Bank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616700"/>
            <a:ext cx="7315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828800"/>
            <a:ext cx="5212080" cy="192024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828800"/>
            <a:ext cx="109728" cy="1920240"/>
          </a:xfrm>
          <a:prstGeom prst="roundRect">
            <a:avLst>
              <a:gd name="adj" fmla="val 50000"/>
            </a:avLst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148840"/>
            <a:ext cx="4389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163566"/>
                </a:solidFill>
                <a:latin typeface="Calibri"/>
              </a:rPr>
              <a:t>Real Cash 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43200"/>
            <a:ext cx="4389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5A6470"/>
                </a:solidFill>
                <a:latin typeface="Calibri"/>
              </a:rPr>
              <a:t>Earn on every local purchase — automatically.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28800"/>
            <a:ext cx="5212080" cy="192024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63640" y="1828800"/>
            <a:ext cx="109728" cy="1920240"/>
          </a:xfrm>
          <a:prstGeom prst="roundRect">
            <a:avLst>
              <a:gd name="adj" fmla="val 50000"/>
            </a:avLst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148840"/>
            <a:ext cx="4389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163566"/>
                </a:solidFill>
                <a:latin typeface="Calibri"/>
              </a:rPr>
              <a:t>No Limits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2743200"/>
            <a:ext cx="4389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5A6470"/>
                </a:solidFill>
                <a:latin typeface="Calibri"/>
              </a:rPr>
              <a:t>No minimum spend, no maximum cash back.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23360"/>
            <a:ext cx="5212080" cy="192024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7240" y="4023360"/>
            <a:ext cx="109728" cy="1920240"/>
          </a:xfrm>
          <a:prstGeom prst="roundRect">
            <a:avLst>
              <a:gd name="adj" fmla="val 50000"/>
            </a:avLst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4343400"/>
            <a:ext cx="4389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163566"/>
                </a:solidFill>
                <a:latin typeface="Calibri"/>
              </a:rPr>
              <a:t>Sharia-Compliant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937760"/>
            <a:ext cx="4389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5A6470"/>
                </a:solidFill>
                <a:latin typeface="Calibri"/>
              </a:rPr>
              <a:t>Banking that follows Islamic principles.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023360"/>
            <a:ext cx="5212080" cy="192024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63640" y="4023360"/>
            <a:ext cx="109728" cy="1920240"/>
          </a:xfrm>
          <a:prstGeom prst="roundRect">
            <a:avLst>
              <a:gd name="adj" fmla="val 50000"/>
            </a:avLst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0" y="4343400"/>
            <a:ext cx="4389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163566"/>
                </a:solidFill>
                <a:latin typeface="Calibri"/>
              </a:rPr>
              <a:t>Global Acceptance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937760"/>
            <a:ext cx="4389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5A6470"/>
                </a:solidFill>
                <a:latin typeface="Calibri"/>
              </a:rPr>
              <a:t>Mastercard network, in store and online.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127248" y="1554480"/>
            <a:ext cx="5943600" cy="2377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di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248" y="2167128"/>
            <a:ext cx="3657600" cy="11499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4297680"/>
            <a:ext cx="121916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96128" y="5175504"/>
            <a:ext cx="1005840" cy="57150"/>
          </a:xfrm>
          <a:prstGeom prst="roundRect">
            <a:avLst>
              <a:gd name="adj" fmla="val 50000"/>
            </a:avLst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5413248"/>
            <a:ext cx="121916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29ABE2"/>
                </a:solidFill>
                <a:latin typeface="Calibri"/>
              </a:rPr>
              <a:t>Banking as it should be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
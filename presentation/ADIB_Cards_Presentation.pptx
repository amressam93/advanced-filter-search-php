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0" y="548640"/>
            <a:ext cx="5897880" cy="5715000"/>
          </a:xfrm>
          <a:prstGeom prst="roundRect">
            <a:avLst/>
          </a:prstGeom>
          <a:solidFill>
            <a:srgbClr val="E8F4FB"/>
          </a:solidFill>
          <a:ln>
            <a:solidFill>
              <a:srgbClr val="E8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dib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62456" y="786384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E7E"/>
                </a:solidFill>
                <a:latin typeface="Arial"/>
              </a:rPr>
              <a:t>ADIB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41732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874"/>
                </a:solidFill>
                <a:latin typeface="Arial"/>
              </a:rPr>
              <a:t>Abu Dhabi Islamic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406908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2636"/>
                </a:solidFill>
                <a:latin typeface="Arial"/>
              </a:rPr>
              <a:t>Cards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80360"/>
            <a:ext cx="3200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97D6"/>
                </a:solidFill>
                <a:latin typeface="Arial"/>
              </a:rPr>
              <a:t>Simple visual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406908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C6874"/>
                </a:solidFill>
                <a:latin typeface="Arial"/>
              </a:rPr>
              <a:t>A clean introduction to ADIB card products, designed for quick reading and strong visual impact.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956048"/>
            <a:ext cx="3337560" cy="621792"/>
          </a:xfrm>
          <a:prstGeom prst="round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5148072"/>
            <a:ext cx="2926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3E7E"/>
                </a:solidFill>
                <a:latin typeface="Arial"/>
              </a:rPr>
              <a:t>Cash Back  |  Titanium  |  Platinum</a:t>
            </a:r>
          </a:p>
        </p:txBody>
      </p:sp>
      <p:pic>
        <p:nvPicPr>
          <p:cNvPr id="12" name="Picture 11" descr="adib_card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1668780"/>
            <a:ext cx="5486400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5596128"/>
            <a:ext cx="329184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03E7E"/>
                </a:solidFill>
                <a:latin typeface="Arial"/>
              </a:rPr>
              <a:t>ADIB card products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dib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5568" y="374904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03E7E"/>
                </a:solidFill>
                <a:latin typeface="Arial"/>
              </a:rPr>
              <a:t>ADIB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85039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>
                <a:solidFill>
                  <a:srgbClr val="003E7E"/>
                </a:solidFill>
                <a:latin typeface="Arial"/>
              </a:rPr>
              <a:t>Portfolio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12680" y="502920"/>
            <a:ext cx="1554480" cy="329184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58984" y="557784"/>
            <a:ext cx="12618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44168"/>
            <a:ext cx="10881360" cy="18288"/>
          </a:xfrm>
          <a:prstGeom prst="rect">
            <a:avLst/>
          </a:prstGeom>
          <a:solidFill>
            <a:srgbClr val="DDE7F0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3154680" cy="3977639"/>
          </a:xfrm>
          <a:prstGeom prst="round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29968"/>
            <a:ext cx="2697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097D6"/>
                </a:solidFill>
                <a:latin typeface="Arial"/>
              </a:rPr>
              <a:t>Cash Back</a:t>
            </a:r>
          </a:p>
        </p:txBody>
      </p:sp>
      <p:pic>
        <p:nvPicPr>
          <p:cNvPr id="10" name="Picture 9" descr="classic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07095"/>
            <a:ext cx="2788920" cy="18449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88136" y="4828032"/>
            <a:ext cx="2487168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C6874"/>
                </a:solidFill>
                <a:latin typeface="Arial"/>
              </a:rPr>
              <a:t>Everyday rewards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1783080"/>
            <a:ext cx="3154680" cy="3977639"/>
          </a:xfrm>
          <a:prstGeom prst="round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2" y="2029968"/>
            <a:ext cx="2697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A2636"/>
                </a:solidFill>
                <a:latin typeface="Arial"/>
              </a:rPr>
              <a:t>Titanium</a:t>
            </a:r>
          </a:p>
        </p:txBody>
      </p:sp>
      <p:pic>
        <p:nvPicPr>
          <p:cNvPr id="14" name="Picture 13" descr="titanium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607095"/>
            <a:ext cx="2788920" cy="184497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18888" y="4828032"/>
            <a:ext cx="2487168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C6874"/>
                </a:solidFill>
                <a:latin typeface="Arial"/>
              </a:rPr>
              <a:t>Modern daily banking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38744" y="1783080"/>
            <a:ext cx="3154680" cy="3977639"/>
          </a:xfrm>
          <a:prstGeom prst="round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4" y="2029968"/>
            <a:ext cx="2697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2A630"/>
                </a:solidFill>
                <a:latin typeface="Arial"/>
              </a:rPr>
              <a:t>Platinum</a:t>
            </a:r>
          </a:p>
        </p:txBody>
      </p:sp>
      <p:pic>
        <p:nvPicPr>
          <p:cNvPr id="18" name="Picture 17" descr="platinum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1624" y="2607095"/>
            <a:ext cx="2788920" cy="18449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49640" y="4828032"/>
            <a:ext cx="2487168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C6874"/>
                </a:solidFill>
                <a:latin typeface="Arial"/>
              </a:rPr>
              <a:t>Premium positioning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291072"/>
            <a:ext cx="10881360" cy="9144"/>
          </a:xfrm>
          <a:prstGeom prst="rect">
            <a:avLst/>
          </a:prstGeom>
          <a:solidFill>
            <a:srgbClr val="DDE7F0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28232"/>
            <a:ext cx="25603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C6874"/>
                </a:solidFill>
                <a:latin typeface="Arial"/>
              </a:rPr>
              <a:t>ADIB Cards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428232"/>
            <a:ext cx="5943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5C6874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dib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5568" y="374904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03E7E"/>
                </a:solidFill>
                <a:latin typeface="Arial"/>
              </a:rPr>
              <a:t>ADIB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85039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>
                <a:solidFill>
                  <a:srgbClr val="003E7E"/>
                </a:solidFill>
                <a:latin typeface="Arial"/>
              </a:rPr>
              <a:t>ADIB Platinum Cash Back 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12680" y="502920"/>
            <a:ext cx="1554480" cy="329184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58984" y="557784"/>
            <a:ext cx="12618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Platinum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44168"/>
            <a:ext cx="10881360" cy="18288"/>
          </a:xfrm>
          <a:prstGeom prst="rect">
            <a:avLst/>
          </a:prstGeom>
          <a:solidFill>
            <a:srgbClr val="DDE7F0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3886200" cy="3401568"/>
          </a:xfrm>
          <a:prstGeom prst="round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100584" cy="3401568"/>
          </a:xfrm>
          <a:prstGeom prst="rect">
            <a:avLst/>
          </a:prstGeom>
          <a:solidFill>
            <a:srgbClr val="F2A630"/>
          </a:solidFill>
          <a:ln>
            <a:solidFill>
              <a:srgbClr val="F2A6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49424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E7E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907792"/>
            <a:ext cx="3063240" cy="1691640"/>
          </a:xfrm>
          <a:prstGeom prst="rect">
            <a:avLst/>
          </a:prstGeom>
          <a:noFill/>
        </p:spPr>
        <p:txBody>
          <a:bodyPr wrap="none" rIns="45720" tIns="27432" b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Premium visual card design</a:t>
            </a:r>
          </a:p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Cashback proposition</a:t>
            </a:r>
          </a:p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Contactless Mastercard payments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1755648"/>
            <a:ext cx="6236208" cy="3703320"/>
          </a:xfrm>
          <a:prstGeom prst="roundRect">
            <a:avLst/>
          </a:prstGeom>
          <a:solidFill>
            <a:srgbClr val="E8F4FB"/>
          </a:solidFill>
          <a:ln>
            <a:solidFill>
              <a:srgbClr val="E8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atinum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389" y="2029968"/>
            <a:ext cx="4768702" cy="31546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58368" y="6291072"/>
            <a:ext cx="10881360" cy="9144"/>
          </a:xfrm>
          <a:prstGeom prst="rect">
            <a:avLst/>
          </a:prstGeom>
          <a:solidFill>
            <a:srgbClr val="DDE7F0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28232"/>
            <a:ext cx="25603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C6874"/>
                </a:solidFill>
                <a:latin typeface="Arial"/>
              </a:rPr>
              <a:t>ADIB Cards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428232"/>
            <a:ext cx="5943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5C6874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dib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5568" y="374904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03E7E"/>
                </a:solidFill>
                <a:latin typeface="Arial"/>
              </a:rPr>
              <a:t>ADIB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85039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>
                <a:solidFill>
                  <a:srgbClr val="003E7E"/>
                </a:solidFill>
                <a:latin typeface="Arial"/>
              </a:rPr>
              <a:t>ADIB Titanium Cash Back Card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12680" y="502920"/>
            <a:ext cx="1554480" cy="329184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58984" y="557784"/>
            <a:ext cx="12618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Titanium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44168"/>
            <a:ext cx="10881360" cy="18288"/>
          </a:xfrm>
          <a:prstGeom prst="rect">
            <a:avLst/>
          </a:prstGeom>
          <a:solidFill>
            <a:srgbClr val="DDE7F0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3886200" cy="3401568"/>
          </a:xfrm>
          <a:prstGeom prst="round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100584" cy="3401568"/>
          </a:xfrm>
          <a:prstGeom prst="rect">
            <a:avLst/>
          </a:prstGeom>
          <a:solidFill>
            <a:srgbClr val="1A2636"/>
          </a:solidFill>
          <a:ln>
            <a:solidFill>
              <a:srgbClr val="1A26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49424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E7E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907792"/>
            <a:ext cx="3063240" cy="1691640"/>
          </a:xfrm>
          <a:prstGeom prst="rect">
            <a:avLst/>
          </a:prstGeom>
          <a:noFill/>
        </p:spPr>
        <p:txBody>
          <a:bodyPr wrap="none" rIns="45720" tIns="27432" bIns="27432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Strong everyday card option</a:t>
            </a:r>
          </a:p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Cashback on purchases</a:t>
            </a:r>
          </a:p>
          <a:p>
            <a:pPr>
              <a:spcAft>
                <a:spcPts val="800"/>
              </a:spcAft>
              <a:defRPr sz="1700">
                <a:solidFill>
                  <a:srgbClr val="1A2636"/>
                </a:solidFill>
                <a:latin typeface="Arial"/>
              </a:defRPr>
            </a:pPr>
            <a:r>
              <a:t>Clear global card branding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1755648"/>
            <a:ext cx="6236208" cy="3703320"/>
          </a:xfrm>
          <a:prstGeom prst="roundRect">
            <a:avLst/>
          </a:prstGeom>
          <a:solidFill>
            <a:srgbClr val="E8F4FB"/>
          </a:solidFill>
          <a:ln>
            <a:solidFill>
              <a:srgbClr val="E8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itanium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389" y="2029968"/>
            <a:ext cx="4768702" cy="31546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58368" y="6291072"/>
            <a:ext cx="10881360" cy="9144"/>
          </a:xfrm>
          <a:prstGeom prst="rect">
            <a:avLst/>
          </a:prstGeom>
          <a:solidFill>
            <a:srgbClr val="DDE7F0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28232"/>
            <a:ext cx="25603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C6874"/>
                </a:solidFill>
                <a:latin typeface="Arial"/>
              </a:rPr>
              <a:t>ADIB Cards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428232"/>
            <a:ext cx="5943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5C6874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dib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5568" y="374904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03E7E"/>
                </a:solidFill>
                <a:latin typeface="Arial"/>
              </a:rPr>
              <a:t>ADIB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85039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500" b="1">
                <a:solidFill>
                  <a:srgbClr val="003E7E"/>
                </a:solidFill>
                <a:latin typeface="Arial"/>
              </a:rPr>
              <a:t>Simple Product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12680" y="502920"/>
            <a:ext cx="1554480" cy="329184"/>
          </a:xfrm>
          <a:prstGeom prst="roundRect">
            <a:avLst/>
          </a:prstGeom>
          <a:solidFill>
            <a:srgbClr val="0097D6"/>
          </a:solidFill>
          <a:ln>
            <a:solidFill>
              <a:srgbClr val="0097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58984" y="557784"/>
            <a:ext cx="126187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Compare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44168"/>
            <a:ext cx="10881360" cy="18288"/>
          </a:xfrm>
          <a:prstGeom prst="rect">
            <a:avLst/>
          </a:prstGeom>
          <a:solidFill>
            <a:srgbClr val="DDE7F0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2286000" cy="594360"/>
          </a:xfrm>
          <a:prstGeom prst="rect">
            <a:avLst/>
          </a:prstGeom>
          <a:solidFill>
            <a:srgbClr val="003E7E"/>
          </a:solidFill>
          <a:ln>
            <a:solidFill>
              <a:srgbClr val="003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57399"/>
            <a:ext cx="19933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1874519"/>
            <a:ext cx="2743200" cy="594360"/>
          </a:xfrm>
          <a:prstGeom prst="rect">
            <a:avLst/>
          </a:prstGeom>
          <a:solidFill>
            <a:srgbClr val="003E7E"/>
          </a:solidFill>
          <a:ln>
            <a:solidFill>
              <a:srgbClr val="003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9544" y="2057399"/>
            <a:ext cx="24505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Visual tone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1874519"/>
            <a:ext cx="2880360" cy="594360"/>
          </a:xfrm>
          <a:prstGeom prst="rect">
            <a:avLst/>
          </a:prstGeom>
          <a:solidFill>
            <a:srgbClr val="003E7E"/>
          </a:solidFill>
          <a:ln>
            <a:solidFill>
              <a:srgbClr val="003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52744" y="2057399"/>
            <a:ext cx="258775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Positioning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1874519"/>
            <a:ext cx="2468880" cy="594360"/>
          </a:xfrm>
          <a:prstGeom prst="rect">
            <a:avLst/>
          </a:prstGeom>
          <a:solidFill>
            <a:srgbClr val="003E7E"/>
          </a:solidFill>
          <a:ln>
            <a:solidFill>
              <a:srgbClr val="003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3104" y="2057399"/>
            <a:ext cx="21762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Design focus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468879"/>
            <a:ext cx="2286000" cy="822960"/>
          </a:xfrm>
          <a:prstGeom prst="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2761487"/>
            <a:ext cx="19933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97D6"/>
                </a:solidFill>
                <a:latin typeface="Arial"/>
              </a:rPr>
              <a:t>Cash Back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3240" y="2468879"/>
            <a:ext cx="2743200" cy="822960"/>
          </a:xfrm>
          <a:prstGeom prst="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9544" y="2761487"/>
            <a:ext cx="2450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Classic blue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06440" y="2468879"/>
            <a:ext cx="2880360" cy="822960"/>
          </a:xfrm>
          <a:prstGeom prst="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52744" y="2761487"/>
            <a:ext cx="258775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Everyday rewards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2468879"/>
            <a:ext cx="2468880" cy="822960"/>
          </a:xfrm>
          <a:prstGeom prst="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33104" y="2761487"/>
            <a:ext cx="217627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Simple card-first layout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291839"/>
            <a:ext cx="22860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3584447"/>
            <a:ext cx="19933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636"/>
                </a:solidFill>
                <a:latin typeface="Arial"/>
              </a:rPr>
              <a:t>Titanium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3291839"/>
            <a:ext cx="274320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9544" y="3584447"/>
            <a:ext cx="2450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Dark titanium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06440" y="3291839"/>
            <a:ext cx="28803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52744" y="3584447"/>
            <a:ext cx="258775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Daily premium feel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0" y="3291839"/>
            <a:ext cx="246888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33104" y="3584447"/>
            <a:ext cx="217627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Simple card-first layout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114799"/>
            <a:ext cx="2286000" cy="822960"/>
          </a:xfrm>
          <a:prstGeom prst="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4407407"/>
            <a:ext cx="19933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2A630"/>
                </a:solidFill>
                <a:latin typeface="Arial"/>
              </a:rPr>
              <a:t>Platinum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40" y="4114799"/>
            <a:ext cx="2743200" cy="822960"/>
          </a:xfrm>
          <a:prstGeom prst="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9544" y="4407407"/>
            <a:ext cx="245059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Silver premium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06440" y="4114799"/>
            <a:ext cx="2880360" cy="822960"/>
          </a:xfrm>
          <a:prstGeom prst="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52744" y="4407407"/>
            <a:ext cx="258775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Premium positioning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0" y="4114799"/>
            <a:ext cx="2468880" cy="822960"/>
          </a:xfrm>
          <a:prstGeom prst="rect">
            <a:avLst/>
          </a:prstGeom>
          <a:solidFill>
            <a:srgbClr val="F6F9FC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33104" y="4407407"/>
            <a:ext cx="217627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2636"/>
                </a:solidFill>
                <a:latin typeface="Arial"/>
              </a:rPr>
              <a:t>Simple card-first layout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285232"/>
            <a:ext cx="10012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C6874"/>
                </a:solidFill>
                <a:latin typeface="Arial"/>
              </a:rPr>
              <a:t>Recommendation: keep each slide focused on one product, one image, and three short messages.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291072"/>
            <a:ext cx="10881360" cy="9144"/>
          </a:xfrm>
          <a:prstGeom prst="rect">
            <a:avLst/>
          </a:prstGeom>
          <a:solidFill>
            <a:srgbClr val="DDE7F0"/>
          </a:solidFill>
          <a:ln>
            <a:solidFill>
              <a:srgbClr val="DDE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28232"/>
            <a:ext cx="25603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C6874"/>
                </a:solidFill>
                <a:latin typeface="Arial"/>
              </a:rPr>
              <a:t>ADIB Cards Portfolio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27080" y="6428232"/>
            <a:ext cx="5943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5C6874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E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54680" y="987552"/>
            <a:ext cx="5897880" cy="4901184"/>
          </a:xfrm>
          <a:prstGeom prst="roundRect">
            <a:avLst/>
          </a:prstGeom>
          <a:solidFill>
            <a:srgbClr val="004D95"/>
          </a:solidFill>
          <a:ln>
            <a:solidFill>
              <a:srgbClr val="004D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ib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1536192"/>
            <a:ext cx="1024128" cy="10241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34840" y="2761488"/>
            <a:ext cx="3337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ADIB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3346704"/>
            <a:ext cx="3493008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4E6F7"/>
                </a:solidFill>
                <a:latin typeface="Arial"/>
              </a:rPr>
              <a:t>Cards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4160520"/>
            <a:ext cx="498348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Simple. Professional. Visual.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
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0" y="640080"/>
            <a:ext cx="6126480" cy="5532120"/>
          </a:xfrm>
          <a:prstGeom prst="roundRect">
            <a:avLst/>
          </a:prstGeom>
          <a:solidFill>
            <a:srgbClr val="E8F2FA"/>
          </a:solidFill>
          <a:ln>
            <a:solidFill>
              <a:srgbClr val="E8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dib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13232"/>
            <a:ext cx="1051560" cy="1051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75104" y="749808"/>
            <a:ext cx="19202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800" b="1">
                <a:solidFill>
                  <a:srgbClr val="003E7E"/>
                </a:solidFill>
                <a:latin typeface="Arial"/>
              </a:rPr>
              <a:t>ADIB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1243584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874"/>
                </a:solidFill>
                <a:latin typeface="Arial"/>
              </a:rPr>
              <a:t>Abu Dhabi Islamic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4747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500" b="1">
                <a:solidFill>
                  <a:srgbClr val="1A2636"/>
                </a:solidFill>
                <a:latin typeface="Arial"/>
              </a:rPr>
              <a:t>Cards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651760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97D6"/>
                </a:solidFill>
                <a:latin typeface="Arial"/>
              </a:rPr>
              <a:t>Simple visual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37560"/>
            <a:ext cx="2743200" cy="1188720"/>
          </a:xfrm>
          <a:prstGeom prst="rect">
            <a:avLst/>
          </a:prstGeom>
          <a:noFill/>
        </p:spPr>
        <p:txBody>
          <a:bodyPr wrap="none" rIns="45720" tIns="27432" b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874"/>
                </a:solidFill>
                <a:latin typeface="Arial"/>
              </a:defRPr>
            </a:pPr>
            <a:r>
              <a:t>Cash Back</a:t>
            </a:r>
          </a:p>
          <a:p>
            <a:pPr>
              <a:spcAft>
                <a:spcPts val="800"/>
              </a:spcAft>
              <a:defRPr sz="1800">
                <a:solidFill>
                  <a:srgbClr val="5C6874"/>
                </a:solidFill>
                <a:latin typeface="Arial"/>
              </a:defRPr>
            </a:pPr>
            <a:r>
              <a:t>Titanium</a:t>
            </a:r>
          </a:p>
          <a:p>
            <a:pPr>
              <a:spcAft>
                <a:spcPts val="800"/>
              </a:spcAft>
              <a:defRPr sz="1800">
                <a:solidFill>
                  <a:srgbClr val="5C6874"/>
                </a:solidFill>
                <a:latin typeface="Arial"/>
              </a:defRPr>
            </a:pPr>
            <a:r>
              <a:t>Platinum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34290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C6874"/>
                </a:solidFill>
                <a:latin typeface="Arial"/>
              </a:rPr>
              <a:t>Clear design. Readable slides. Product-focused visuals.</a:t>
            </a:r>
          </a:p>
        </p:txBody>
      </p:sp>
      <p:pic>
        <p:nvPicPr>
          <p:cNvPr id="12" name="Picture 11" descr="adib_card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128" y="1586484"/>
            <a:ext cx="5669280" cy="3401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7960" y="5696712"/>
            <a:ext cx="40233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03E7E"/>
                </a:solidFill>
                <a:latin typeface="Arial"/>
              </a:rPr>
              <a:t>ADIB card products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85039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>
                <a:solidFill>
                  <a:srgbClr val="003E7E"/>
                </a:solidFill>
                <a:latin typeface="Arial"/>
              </a:rPr>
              <a:t>Cash Back Cards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12680" y="384048"/>
            <a:ext cx="1554480" cy="329184"/>
          </a:xfrm>
          <a:prstGeom prst="round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58984" y="438912"/>
            <a:ext cx="126187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32688"/>
            <a:ext cx="10881360" cy="18288"/>
          </a:xfrm>
          <a:prstGeom prst="rect">
            <a:avLst/>
          </a:prstGeom>
          <a:solidFill>
            <a:srgbClr val="DBE5EF"/>
          </a:solidFill>
          <a:ln>
            <a:solidFill>
              <a:srgbClr val="DB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hback_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263" y="1207008"/>
            <a:ext cx="7703570" cy="33101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4800600"/>
            <a:ext cx="3310128" cy="1143000"/>
          </a:xfrm>
          <a:prstGeom prst="roundRect">
            <a:avLst/>
          </a:prstGeom>
          <a:solidFill>
            <a:srgbClr val="F6F9FC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43984" y="4800600"/>
            <a:ext cx="3310128" cy="1143000"/>
          </a:xfrm>
          <a:prstGeom prst="roundRect">
            <a:avLst/>
          </a:prstGeom>
          <a:solidFill>
            <a:srgbClr val="F6F9FC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4800600"/>
            <a:ext cx="3310128" cy="1143000"/>
          </a:xfrm>
          <a:prstGeom prst="roundRect">
            <a:avLst/>
          </a:prstGeom>
          <a:solidFill>
            <a:srgbClr val="F6F9FC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992624"/>
            <a:ext cx="27432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3E7E"/>
                </a:solidFill>
                <a:latin typeface="Arial"/>
              </a:rPr>
              <a:t>Cashback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376672"/>
            <a:ext cx="2560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C6874"/>
                </a:solidFill>
                <a:latin typeface="Arial"/>
              </a:rPr>
              <a:t>Rewards on card purchases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7" y="4992624"/>
            <a:ext cx="27432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3E7E"/>
                </a:solidFill>
                <a:latin typeface="Arial"/>
              </a:rPr>
              <a:t>Contactless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5376672"/>
            <a:ext cx="2560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C6874"/>
                </a:solidFill>
                <a:latin typeface="Arial"/>
              </a:rPr>
              <a:t>Quick everyday payments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7344" y="4992624"/>
            <a:ext cx="27432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3E7E"/>
                </a:solidFill>
                <a:latin typeface="Arial"/>
              </a:rPr>
              <a:t>Mastercard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5376672"/>
            <a:ext cx="2560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C6874"/>
                </a:solidFill>
                <a:latin typeface="Arial"/>
              </a:rPr>
              <a:t>Wide local and international acceptance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85039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>
                <a:solidFill>
                  <a:srgbClr val="003E7E"/>
                </a:solidFill>
                <a:latin typeface="Arial"/>
              </a:rPr>
              <a:t>ADIB Platinum Cash Back Card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12680" y="384048"/>
            <a:ext cx="1554480" cy="329184"/>
          </a:xfrm>
          <a:prstGeom prst="round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58984" y="438912"/>
            <a:ext cx="126187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Platinum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32688"/>
            <a:ext cx="10881360" cy="18288"/>
          </a:xfrm>
          <a:prstGeom prst="rect">
            <a:avLst/>
          </a:prstGeom>
          <a:solidFill>
            <a:srgbClr val="DBE5EF"/>
          </a:solidFill>
          <a:ln>
            <a:solidFill>
              <a:srgbClr val="DB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5532120" cy="43708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tinu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15787"/>
            <a:ext cx="5029200" cy="332700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20840" y="1417320"/>
            <a:ext cx="4553712" cy="4133087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20840" y="1417320"/>
            <a:ext cx="109728" cy="4133087"/>
          </a:xfrm>
          <a:prstGeom prst="rect">
            <a:avLst/>
          </a:prstGeom>
          <a:solidFill>
            <a:srgbClr val="F2A630"/>
          </a:solidFill>
          <a:ln>
            <a:solidFill>
              <a:srgbClr val="F2A6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7456" y="1764792"/>
            <a:ext cx="34747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300" b="1">
                <a:solidFill>
                  <a:srgbClr val="003E7E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04888" y="2487168"/>
            <a:ext cx="3584448" cy="2286000"/>
          </a:xfrm>
          <a:prstGeom prst="rect">
            <a:avLst/>
          </a:prstGeom>
          <a:noFill/>
        </p:spPr>
        <p:txBody>
          <a:bodyPr wrap="none" rIns="45720" tIns="27432" b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Premium visual card design</a:t>
            </a:r>
          </a:p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Cashback proposition</a:t>
            </a:r>
          </a:p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Contactless Mastercard payments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8" y="5010912"/>
            <a:ext cx="35204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874"/>
                </a:solidFill>
                <a:latin typeface="Arial"/>
              </a:rPr>
              <a:t>Visual focus: large card image + short text only.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85039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>
                <a:solidFill>
                  <a:srgbClr val="003E7E"/>
                </a:solidFill>
                <a:latin typeface="Arial"/>
              </a:rPr>
              <a:t>ADIB Titanium Cash Back Card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12680" y="384048"/>
            <a:ext cx="1554480" cy="329184"/>
          </a:xfrm>
          <a:prstGeom prst="round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58984" y="438912"/>
            <a:ext cx="126187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Titanium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32688"/>
            <a:ext cx="10881360" cy="18288"/>
          </a:xfrm>
          <a:prstGeom prst="rect">
            <a:avLst/>
          </a:prstGeom>
          <a:solidFill>
            <a:srgbClr val="DBE5EF"/>
          </a:solidFill>
          <a:ln>
            <a:solidFill>
              <a:srgbClr val="DB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5532120" cy="43708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itaniu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15787"/>
            <a:ext cx="5029200" cy="332700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20840" y="1417320"/>
            <a:ext cx="4553712" cy="4133087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20840" y="1417320"/>
            <a:ext cx="109728" cy="4133087"/>
          </a:xfrm>
          <a:prstGeom prst="rect">
            <a:avLst/>
          </a:prstGeom>
          <a:solidFill>
            <a:srgbClr val="1A2636"/>
          </a:solidFill>
          <a:ln>
            <a:solidFill>
              <a:srgbClr val="1A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7456" y="1764792"/>
            <a:ext cx="34747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300" b="1">
                <a:solidFill>
                  <a:srgbClr val="003E7E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04888" y="2487168"/>
            <a:ext cx="3584448" cy="2286000"/>
          </a:xfrm>
          <a:prstGeom prst="rect">
            <a:avLst/>
          </a:prstGeom>
          <a:noFill/>
        </p:spPr>
        <p:txBody>
          <a:bodyPr wrap="none" rIns="45720" tIns="27432" b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Strong everyday card option</a:t>
            </a:r>
          </a:p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Cashback on purchases</a:t>
            </a:r>
          </a:p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Clear global card branding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8" y="5010912"/>
            <a:ext cx="35204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874"/>
                </a:solidFill>
                <a:latin typeface="Arial"/>
              </a:rPr>
              <a:t>Visual focus: large card image + short text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85039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>
                <a:solidFill>
                  <a:srgbClr val="003E7E"/>
                </a:solidFill>
                <a:latin typeface="Arial"/>
              </a:rPr>
              <a:t>Simple Product Comparison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12680" y="384048"/>
            <a:ext cx="1554480" cy="329184"/>
          </a:xfrm>
          <a:prstGeom prst="round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58984" y="438912"/>
            <a:ext cx="126187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Compare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32688"/>
            <a:ext cx="10881360" cy="18288"/>
          </a:xfrm>
          <a:prstGeom prst="rect">
            <a:avLst/>
          </a:prstGeom>
          <a:solidFill>
            <a:srgbClr val="DBE5EF"/>
          </a:solidFill>
          <a:ln>
            <a:solidFill>
              <a:srgbClr val="DB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1325880"/>
            <a:ext cx="3310128" cy="4526280"/>
          </a:xfrm>
          <a:prstGeom prst="roundRect">
            <a:avLst/>
          </a:prstGeom>
          <a:solidFill>
            <a:srgbClr val="F6F9FC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572768"/>
            <a:ext cx="2743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0097D6"/>
                </a:solidFill>
                <a:latin typeface="Arial"/>
              </a:rPr>
              <a:t>Cash Back</a:t>
            </a:r>
          </a:p>
        </p:txBody>
      </p:sp>
      <p:pic>
        <p:nvPicPr>
          <p:cNvPr id="8" name="Picture 7" descr="classic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071116"/>
            <a:ext cx="2971800" cy="1965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207008" y="4361688"/>
            <a:ext cx="2331720" cy="502920"/>
          </a:xfrm>
          <a:prstGeom prst="round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4517136"/>
            <a:ext cx="21488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Everyday payments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138928"/>
            <a:ext cx="261518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C6874"/>
                </a:solidFill>
                <a:latin typeface="Arial"/>
              </a:rPr>
              <a:t>Clear image, simple label, one message.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35424" y="1325880"/>
            <a:ext cx="3310128" cy="4526280"/>
          </a:xfrm>
          <a:prstGeom prst="roundRect">
            <a:avLst/>
          </a:prstGeom>
          <a:solidFill>
            <a:srgbClr val="F6F9FC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91456" y="1572768"/>
            <a:ext cx="2743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A2636"/>
                </a:solidFill>
                <a:latin typeface="Arial"/>
              </a:rPr>
              <a:t>Titanium</a:t>
            </a:r>
          </a:p>
        </p:txBody>
      </p:sp>
      <p:pic>
        <p:nvPicPr>
          <p:cNvPr id="14" name="Picture 13" descr="titanium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2071116"/>
            <a:ext cx="2971800" cy="19659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029200" y="4361688"/>
            <a:ext cx="2331720" cy="502920"/>
          </a:xfrm>
          <a:prstGeom prst="roundRect">
            <a:avLst/>
          </a:prstGeom>
          <a:solidFill>
            <a:srgbClr val="1A2636"/>
          </a:solidFill>
          <a:ln>
            <a:solidFill>
              <a:srgbClr val="1A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4517136"/>
            <a:ext cx="21488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Higher-tier daily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5138928"/>
            <a:ext cx="261518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C6874"/>
                </a:solidFill>
                <a:latin typeface="Arial"/>
              </a:rPr>
              <a:t>Clear image, simple label, one message.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5" y="1325880"/>
            <a:ext cx="3310128" cy="4526280"/>
          </a:xfrm>
          <a:prstGeom prst="roundRect">
            <a:avLst/>
          </a:prstGeom>
          <a:solidFill>
            <a:srgbClr val="F6F9FC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7" y="1572768"/>
            <a:ext cx="27432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2A630"/>
                </a:solidFill>
                <a:latin typeface="Arial"/>
              </a:rPr>
              <a:t>Platinum</a:t>
            </a:r>
          </a:p>
        </p:txBody>
      </p:sp>
      <p:pic>
        <p:nvPicPr>
          <p:cNvPr id="20" name="Picture 19" descr="platinum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7" y="2071116"/>
            <a:ext cx="2971800" cy="19659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851391" y="4361688"/>
            <a:ext cx="2331720" cy="502920"/>
          </a:xfrm>
          <a:prstGeom prst="roundRect">
            <a:avLst/>
          </a:prstGeom>
          <a:solidFill>
            <a:srgbClr val="F2A630"/>
          </a:solidFill>
          <a:ln>
            <a:solidFill>
              <a:srgbClr val="F2A6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42831" y="4517136"/>
            <a:ext cx="21488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Premium positioning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7" y="5138928"/>
            <a:ext cx="261518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C6874"/>
                </a:solidFill>
                <a:latin typeface="Arial"/>
              </a:rPr>
              <a:t>Clear image, simple label, one message.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E7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dib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024128"/>
            <a:ext cx="1325880" cy="13258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89120" y="2468880"/>
            <a:ext cx="29260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ADIB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60520" y="3054096"/>
            <a:ext cx="338328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2E6F7"/>
                </a:solidFill>
                <a:latin typeface="Arial"/>
              </a:rPr>
              <a:t>Cards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11880" y="3986784"/>
            <a:ext cx="4480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Simple. Secure. Rewarding.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4773168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2E6F7"/>
                </a:solidFill>
                <a:latin typeface="Arial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
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75120" y="0"/>
            <a:ext cx="5516575" cy="6858000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20256" y="0"/>
            <a:ext cx="54864" cy="685800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ib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60120"/>
            <a:ext cx="4206240" cy="8412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514600"/>
            <a:ext cx="1463040" cy="6400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5669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B3281"/>
                </a:solidFill>
                <a:latin typeface="Calibri"/>
              </a:rPr>
              <a:t>ADIB Covered 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6B7280"/>
                </a:solidFill>
                <a:latin typeface="Calibri"/>
              </a:rPr>
              <a:t>A simple look at our Sharia-compliant card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Abu Dhabi Islamic Bank  •  Banking as it should be</a:t>
            </a:r>
          </a:p>
        </p:txBody>
      </p:sp>
      <p:pic>
        <p:nvPicPr>
          <p:cNvPr id="10" name="Picture 9" descr="cashback_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566928"/>
            <a:ext cx="3246120" cy="2318657"/>
          </a:xfrm>
          <a:prstGeom prst="rect">
            <a:avLst/>
          </a:prstGeom>
        </p:spPr>
      </p:pic>
      <p:pic>
        <p:nvPicPr>
          <p:cNvPr id="11" name="Picture 10" descr="titanium_sha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2194560"/>
            <a:ext cx="3246120" cy="2318657"/>
          </a:xfrm>
          <a:prstGeom prst="rect">
            <a:avLst/>
          </a:prstGeom>
        </p:spPr>
      </p:pic>
      <p:pic>
        <p:nvPicPr>
          <p:cNvPr id="12" name="Picture 11" descr="platinum_sha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3822192"/>
            <a:ext cx="3246120" cy="23186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71323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B3281"/>
                </a:solidFill>
                <a:latin typeface="Calibri"/>
              </a:rPr>
              <a:t>About ADIB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2412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Abu Dhabi Islamic Bank at a glance</a:t>
            </a:r>
          </a:p>
        </p:txBody>
      </p:sp>
      <p:pic>
        <p:nvPicPr>
          <p:cNvPr id="6" name="Picture 5" descr="adib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566928"/>
            <a:ext cx="1737360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9447" y="2103120"/>
            <a:ext cx="3383280" cy="2286000"/>
          </a:xfrm>
          <a:prstGeom prst="round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29487" y="2468880"/>
            <a:ext cx="731520" cy="6400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487" y="265176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B3281"/>
                </a:solidFill>
                <a:latin typeface="Calibri"/>
              </a:rPr>
              <a:t>1997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35204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Founded in Abu Dhabi, United Arab Emirates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4207" y="2103120"/>
            <a:ext cx="3383280" cy="2286000"/>
          </a:xfrm>
          <a:prstGeom prst="round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24247" y="2468880"/>
            <a:ext cx="731520" cy="6400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4247" y="265176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B3281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247" y="35204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Sharia-compliant products and 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8967" y="2103120"/>
            <a:ext cx="3383280" cy="2286000"/>
          </a:xfrm>
          <a:prstGeom prst="round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19007" y="2468880"/>
            <a:ext cx="731520" cy="64008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9007" y="265176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B3281"/>
                </a:solidFill>
                <a:latin typeface="Calibri"/>
              </a:rPr>
              <a:t>1M+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9007" y="35204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Customers served across our markets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2B2B2B"/>
                </a:solidFill>
                <a:latin typeface="Calibri"/>
              </a:rPr>
              <a:t>ADIB combines modern everyday banking with the principles of Islamic finance —</a:t>
            </a:r>
          </a:p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2B2B2B"/>
                </a:solidFill>
                <a:latin typeface="Calibri"/>
              </a:rPr>
              <a:t>transparent, fair, and built around our customers.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B3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71323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B3281"/>
                </a:solidFill>
                <a:latin typeface="Calibri"/>
              </a:rPr>
              <a:t>One Family, Three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2412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A card for every lifestyle</a:t>
            </a:r>
          </a:p>
        </p:txBody>
      </p:sp>
      <p:pic>
        <p:nvPicPr>
          <p:cNvPr id="6" name="Picture 5" descr="adib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566928"/>
            <a:ext cx="1737360" cy="347472"/>
          </a:xfrm>
          <a:prstGeom prst="rect">
            <a:avLst/>
          </a:prstGeom>
        </p:spPr>
      </p:pic>
      <p:pic>
        <p:nvPicPr>
          <p:cNvPr id="7" name="Picture 6" descr="cashback_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87" y="1965960"/>
            <a:ext cx="3383280" cy="24166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0887" y="451974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B3281"/>
                </a:solidFill>
                <a:latin typeface="Calibri"/>
              </a:rPr>
              <a:t>Cash Back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9487" y="4949516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Instant cash back on your everyday purchases</a:t>
            </a:r>
          </a:p>
        </p:txBody>
      </p:sp>
      <p:pic>
        <p:nvPicPr>
          <p:cNvPr id="10" name="Picture 9" descr="titanium_sha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207" y="1965960"/>
            <a:ext cx="3383280" cy="24166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04207" y="451974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B3281"/>
                </a:solidFill>
                <a:latin typeface="Calibri"/>
              </a:rPr>
              <a:t>Titanium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807" y="4949516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Everyday value with premium convenience</a:t>
            </a:r>
          </a:p>
        </p:txBody>
      </p:sp>
      <p:pic>
        <p:nvPicPr>
          <p:cNvPr id="13" name="Picture 12" descr="platinum_sha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7527" y="1965960"/>
            <a:ext cx="3383280" cy="24166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07527" y="451974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B3281"/>
                </a:solidFill>
                <a:latin typeface="Calibri"/>
              </a:rPr>
              <a:t>Platinum 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6127" y="4949516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Premium privileges and higher limits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B3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71323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B3281"/>
                </a:solidFill>
                <a:latin typeface="Calibri"/>
              </a:rPr>
              <a:t>Platinum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2412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Premium, made simple</a:t>
            </a:r>
          </a:p>
        </p:txBody>
      </p:sp>
      <p:pic>
        <p:nvPicPr>
          <p:cNvPr id="6" name="Picture 5" descr="adib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566928"/>
            <a:ext cx="1737360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0" y="1783080"/>
            <a:ext cx="6126480" cy="4480560"/>
          </a:xfrm>
          <a:prstGeom prst="round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atinum_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94560"/>
            <a:ext cx="512064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60" y="2240280"/>
            <a:ext cx="48463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Premium privileges</a:t>
            </a:r>
            <a:r>
              <a:rPr sz="1700">
                <a:solidFill>
                  <a:srgbClr val="6B7280"/>
                </a:solidFill>
                <a:latin typeface="Calibri"/>
              </a:rPr>
              <a:t> — exclusive offers and lifestyle benefits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Higher finance limits</a:t>
            </a:r>
            <a:r>
              <a:rPr sz="1700">
                <a:solidFill>
                  <a:srgbClr val="6B7280"/>
                </a:solidFill>
                <a:latin typeface="Calibri"/>
              </a:rPr>
              <a:t> — more room for the things that matter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Contactless payments</a:t>
            </a:r>
            <a:r>
              <a:rPr sz="1700">
                <a:solidFill>
                  <a:srgbClr val="6B7280"/>
                </a:solidFill>
                <a:latin typeface="Calibri"/>
              </a:rPr>
              <a:t> — fast, secure tap-and-go convenience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Sharia-compliant</a:t>
            </a:r>
            <a:r>
              <a:rPr sz="1700">
                <a:solidFill>
                  <a:srgbClr val="6B7280"/>
                </a:solidFill>
                <a:latin typeface="Calibri"/>
              </a:rPr>
              <a:t> — a covered card built on Islamic principles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B3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71323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B3281"/>
                </a:solidFill>
                <a:latin typeface="Calibri"/>
              </a:rPr>
              <a:t>Titanium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2412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Everyday strength</a:t>
            </a:r>
          </a:p>
        </p:txBody>
      </p:sp>
      <p:pic>
        <p:nvPicPr>
          <p:cNvPr id="6" name="Picture 5" descr="adib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566928"/>
            <a:ext cx="1737360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62472" y="1783080"/>
            <a:ext cx="6126480" cy="4480560"/>
          </a:xfrm>
          <a:prstGeom prst="round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tanium_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94560"/>
            <a:ext cx="512064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240280"/>
            <a:ext cx="48463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Everyday value</a:t>
            </a:r>
            <a:r>
              <a:rPr sz="1700">
                <a:solidFill>
                  <a:srgbClr val="6B7280"/>
                </a:solidFill>
                <a:latin typeface="Calibri"/>
              </a:rPr>
              <a:t> — rewards on your regular spending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Worldwide acceptance</a:t>
            </a:r>
            <a:r>
              <a:rPr sz="1700">
                <a:solidFill>
                  <a:srgbClr val="6B7280"/>
                </a:solidFill>
                <a:latin typeface="Calibri"/>
              </a:rPr>
              <a:t> — use it wherever Mastercard is accepted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Smart security</a:t>
            </a:r>
            <a:r>
              <a:rPr sz="1700">
                <a:solidFill>
                  <a:srgbClr val="6B7280"/>
                </a:solidFill>
                <a:latin typeface="Calibri"/>
              </a:rPr>
              <a:t> — chip protection and instant transaction alerts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Sharia-compliant</a:t>
            </a:r>
            <a:r>
              <a:rPr sz="1700">
                <a:solidFill>
                  <a:srgbClr val="6B7280"/>
                </a:solidFill>
                <a:latin typeface="Calibri"/>
              </a:rPr>
              <a:t> — a covered card built on Islamic principles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B3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713232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B3281"/>
                </a:solidFill>
                <a:latin typeface="Calibri"/>
              </a:rPr>
              <a:t>Cash Back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2412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Calibri"/>
              </a:rPr>
              <a:t>Get rewarded on every purchase</a:t>
            </a:r>
          </a:p>
        </p:txBody>
      </p:sp>
      <p:pic>
        <p:nvPicPr>
          <p:cNvPr id="6" name="Picture 5" descr="adib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566928"/>
            <a:ext cx="1737360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0" y="1783080"/>
            <a:ext cx="6126480" cy="4480560"/>
          </a:xfrm>
          <a:prstGeom prst="round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shback_sha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94560"/>
            <a:ext cx="512064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37960" y="2240280"/>
            <a:ext cx="48463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Instant cash back</a:t>
            </a:r>
            <a:r>
              <a:rPr sz="1700">
                <a:solidFill>
                  <a:srgbClr val="6B7280"/>
                </a:solidFill>
                <a:latin typeface="Calibri"/>
              </a:rPr>
              <a:t> — earn on all your local purchases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No limits</a:t>
            </a:r>
            <a:r>
              <a:rPr sz="1700">
                <a:solidFill>
                  <a:srgbClr val="6B7280"/>
                </a:solidFill>
                <a:latin typeface="Calibri"/>
              </a:rPr>
              <a:t> — no minimum or maximum cash back caps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Contactless payments</a:t>
            </a:r>
            <a:r>
              <a:rPr sz="1700">
                <a:solidFill>
                  <a:srgbClr val="6B7280"/>
                </a:solidFill>
                <a:latin typeface="Calibri"/>
              </a:rPr>
              <a:t> — fast, secure tap-and-go convenience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9ABE2"/>
                </a:solidFill>
                <a:latin typeface="Calibri"/>
              </a:rPr>
              <a:t>■  </a:t>
            </a:r>
            <a:r>
              <a:rPr sz="1700" b="1">
                <a:solidFill>
                  <a:srgbClr val="1B3281"/>
                </a:solidFill>
                <a:latin typeface="Calibri"/>
              </a:rPr>
              <a:t>Sharia-compliant</a:t>
            </a:r>
            <a:r>
              <a:rPr sz="1700">
                <a:solidFill>
                  <a:srgbClr val="6B7280"/>
                </a:solidFill>
                <a:latin typeface="Calibri"/>
              </a:rPr>
              <a:t> — a covered card built on Islamic principles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B3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94415" y="63550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dib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487" y="2423160"/>
            <a:ext cx="34747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>
                <a:solidFill>
                  <a:srgbClr val="1B3281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25780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adib.ae  •  Banking as it should 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
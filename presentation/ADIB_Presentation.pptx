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822960"/>
            <a:ext cx="40233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BE9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5062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400" b="1">
                <a:solidFill>
                  <a:srgbClr val="003B6F"/>
                </a:solidFill>
                <a:latin typeface="Calibri"/>
              </a:rPr>
              <a:t>ADIB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9384"/>
            <a:ext cx="4023360" cy="36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3B6F"/>
                </a:solidFill>
                <a:latin typeface="Calibri"/>
              </a:rPr>
              <a:t>Abu Dhabi Islamic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4023360" cy="36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A4A4A"/>
                </a:solidFill>
                <a:latin typeface="Calibri"/>
              </a:rPr>
              <a:t>Logo placeholder — replace with your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3B6F"/>
                </a:solidFill>
                <a:latin typeface="Calibri"/>
              </a:rPr>
              <a:t>Abu Dhabi Islamic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0ADEF"/>
                </a:solidFill>
                <a:latin typeface="Calibri"/>
              </a:rPr>
              <a:t>Banking, Cards &amp; Lifestyle 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663440"/>
            <a:ext cx="1828800" cy="28575"/>
          </a:xfrm>
          <a:prstGeom prst="rect">
            <a:avLst/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An overview of ADIB and its premium card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822960"/>
            <a:ext cx="4937760" cy="1688592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51223" y="890503"/>
            <a:ext cx="4802674" cy="1553506"/>
          </a:xfrm>
          <a:prstGeom prst="roundRect">
            <a:avLst>
              <a:gd name="adj" fmla="val 7000"/>
            </a:avLst>
          </a:prstGeom>
          <a:solidFill>
            <a:srgbClr val="00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99448" y="654101"/>
            <a:ext cx="2715768" cy="928725"/>
          </a:xfrm>
          <a:prstGeom prst="ellipse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78700" y="1464624"/>
            <a:ext cx="641908" cy="270174"/>
          </a:xfrm>
          <a:prstGeom prst="roundRect">
            <a:avLst>
              <a:gd name="adj" fmla="val 20000"/>
            </a:avLst>
          </a:prstGeom>
          <a:solidFill>
            <a:srgbClr val="C9B37E"/>
          </a:solidFill>
          <a:ln>
            <a:solidFill>
              <a:srgbClr val="8C70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9945" y="991819"/>
            <a:ext cx="4345229" cy="3039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Card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9945" y="2173834"/>
            <a:ext cx="4345229" cy="236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E9F8"/>
                </a:solidFill>
                <a:latin typeface="Calibri"/>
              </a:rPr>
              <a:t>Drop your image here  •  card1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2676144"/>
            <a:ext cx="4937760" cy="1688592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51223" y="2743687"/>
            <a:ext cx="4802674" cy="1553506"/>
          </a:xfrm>
          <a:prstGeom prst="roundRect">
            <a:avLst>
              <a:gd name="adj" fmla="val 7000"/>
            </a:avLst>
          </a:prstGeom>
          <a:solidFill>
            <a:srgbClr val="00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2507285"/>
            <a:ext cx="2715768" cy="928725"/>
          </a:xfrm>
          <a:prstGeom prst="ellipse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78700" y="3317808"/>
            <a:ext cx="641908" cy="270174"/>
          </a:xfrm>
          <a:prstGeom prst="roundRect">
            <a:avLst>
              <a:gd name="adj" fmla="val 20000"/>
            </a:avLst>
          </a:prstGeom>
          <a:solidFill>
            <a:srgbClr val="C9B37E"/>
          </a:solidFill>
          <a:ln>
            <a:solidFill>
              <a:srgbClr val="8C70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9945" y="2845003"/>
            <a:ext cx="4345229" cy="3039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Card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9945" y="4027018"/>
            <a:ext cx="4345229" cy="236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E9F8"/>
                </a:solidFill>
                <a:latin typeface="Calibri"/>
              </a:rPr>
              <a:t>Drop your image here  •  card2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529328"/>
            <a:ext cx="4937760" cy="1688592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651223" y="4596871"/>
            <a:ext cx="4802674" cy="1553506"/>
          </a:xfrm>
          <a:prstGeom prst="roundRect">
            <a:avLst>
              <a:gd name="adj" fmla="val 7000"/>
            </a:avLst>
          </a:prstGeom>
          <a:solidFill>
            <a:srgbClr val="00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99448" y="4360469"/>
            <a:ext cx="2715768" cy="928725"/>
          </a:xfrm>
          <a:prstGeom prst="ellipse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78700" y="5170992"/>
            <a:ext cx="641908" cy="270174"/>
          </a:xfrm>
          <a:prstGeom prst="roundRect">
            <a:avLst>
              <a:gd name="adj" fmla="val 20000"/>
            </a:avLst>
          </a:prstGeom>
          <a:solidFill>
            <a:srgbClr val="C9B37E"/>
          </a:solidFill>
          <a:ln>
            <a:solidFill>
              <a:srgbClr val="8C70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9945" y="4698187"/>
            <a:ext cx="4345229" cy="3039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Card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9945" y="5880202"/>
            <a:ext cx="4345229" cy="236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E9F8"/>
                </a:solidFill>
                <a:latin typeface="Calibri"/>
              </a:rPr>
              <a:t>Drop your image here  •  card3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28016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ADEF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03B6F"/>
                </a:solidFill>
                <a:latin typeface="Calibri"/>
              </a:rPr>
              <a:t>About ADIB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68580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00ADEF"/>
                </a:solidFill>
                <a:latin typeface="Calibri"/>
              </a:rPr>
              <a:t>•  </a:t>
            </a:r>
            <a:r>
              <a:rPr sz="1800">
                <a:solidFill>
                  <a:srgbClr val="4A4A4A"/>
                </a:solidFill>
                <a:latin typeface="Calibri"/>
              </a:rPr>
              <a:t>Founded in 1997 and headquartered in Abu Dhabi, UAE.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00ADEF"/>
                </a:solidFill>
                <a:latin typeface="Calibri"/>
              </a:rPr>
              <a:t>•  </a:t>
            </a:r>
            <a:r>
              <a:rPr sz="1800">
                <a:solidFill>
                  <a:srgbClr val="4A4A4A"/>
                </a:solidFill>
                <a:latin typeface="Calibri"/>
              </a:rPr>
              <a:t>One of the leading Islamic banks in the region.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00ADEF"/>
                </a:solidFill>
                <a:latin typeface="Calibri"/>
              </a:rPr>
              <a:t>•  </a:t>
            </a:r>
            <a:r>
              <a:rPr sz="1800">
                <a:solidFill>
                  <a:srgbClr val="4A4A4A"/>
                </a:solidFill>
                <a:latin typeface="Calibri"/>
              </a:rPr>
              <a:t>All products are fully Shari'a compliant.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00ADEF"/>
                </a:solidFill>
                <a:latin typeface="Calibri"/>
              </a:rPr>
              <a:t>•  </a:t>
            </a:r>
            <a:r>
              <a:rPr sz="1800">
                <a:solidFill>
                  <a:srgbClr val="4A4A4A"/>
                </a:solidFill>
                <a:latin typeface="Calibri"/>
              </a:rPr>
              <a:t>Serves over 1 million customers across the UAE, Egypt, Iraq, Saudi Arabia, the UK, Qatar, and Sudan.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00ADEF"/>
                </a:solidFill>
                <a:latin typeface="Calibri"/>
              </a:rPr>
              <a:t>•  </a:t>
            </a:r>
            <a:r>
              <a:rPr sz="1800">
                <a:solidFill>
                  <a:srgbClr val="4A4A4A"/>
                </a:solidFill>
                <a:latin typeface="Calibri"/>
              </a:rPr>
              <a:t>Wide range of personal, business, and wealth solutions.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1874519" cy="1691640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14884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1997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88036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BE9F8"/>
                </a:solidFill>
                <a:latin typeface="Calibri"/>
              </a:rPr>
              <a:t>Founded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39" y="1828800"/>
            <a:ext cx="1874519" cy="1691640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39" y="214884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1M+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39" y="288036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BE9F8"/>
                </a:solidFill>
                <a:latin typeface="Calibri"/>
              </a:rPr>
              <a:t>Customers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3703320"/>
            <a:ext cx="1874519" cy="1691640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402336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548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BE9F8"/>
                </a:solidFill>
                <a:latin typeface="Calibri"/>
              </a:rPr>
              <a:t>Countries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21239" y="3703320"/>
            <a:ext cx="1874519" cy="1691640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39" y="402336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39" y="47548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BE9F8"/>
                </a:solidFill>
                <a:latin typeface="Calibri"/>
              </a:rPr>
              <a:t>Shari'a compliant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ADIB  •  Abu Dhabi Islamic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CBE9F8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28016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ADEF"/>
                </a:solidFill>
                <a:latin typeface="Calibri"/>
              </a:rPr>
              <a:t>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03B6F"/>
                </a:solidFill>
                <a:latin typeface="Calibri"/>
              </a:rPr>
              <a:t>Our Card Portfolio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92024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4194" y="2000707"/>
            <a:ext cx="3313786" cy="1850746"/>
          </a:xfrm>
          <a:prstGeom prst="roundRect">
            <a:avLst>
              <a:gd name="adj" fmla="val 7000"/>
            </a:avLst>
          </a:prstGeom>
          <a:solidFill>
            <a:srgbClr val="00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474823" y="1719072"/>
            <a:ext cx="1911096" cy="1106424"/>
          </a:xfrm>
          <a:prstGeom prst="ellipse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704" y="2684678"/>
            <a:ext cx="451713" cy="321868"/>
          </a:xfrm>
          <a:prstGeom prst="roundRect">
            <a:avLst>
              <a:gd name="adj" fmla="val 20000"/>
            </a:avLst>
          </a:prstGeom>
          <a:solidFill>
            <a:srgbClr val="C9B37E"/>
          </a:solidFill>
          <a:ln>
            <a:solidFill>
              <a:srgbClr val="8C70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210" y="2121408"/>
            <a:ext cx="3057754" cy="36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Platinum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210" y="3529584"/>
            <a:ext cx="3057754" cy="281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E9F8"/>
                </a:solidFill>
                <a:latin typeface="Calibri"/>
              </a:rPr>
              <a:t>Drop your image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27" y="416052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327" y="4343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3B6F"/>
                </a:solidFill>
                <a:latin typeface="Calibri"/>
              </a:rPr>
              <a:t>Platinum Card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327" y="4846320"/>
            <a:ext cx="548640" cy="28575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327" y="502920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Premium everyday spending with rewards &amp; cashback.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487" y="192024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8954" y="2000707"/>
            <a:ext cx="3313786" cy="1850746"/>
          </a:xfrm>
          <a:prstGeom prst="roundRect">
            <a:avLst>
              <a:gd name="adj" fmla="val 7000"/>
            </a:avLst>
          </a:prstGeom>
          <a:solidFill>
            <a:srgbClr val="00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69583" y="1719072"/>
            <a:ext cx="1911096" cy="1106424"/>
          </a:xfrm>
          <a:prstGeom prst="ellipse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36464" y="2684678"/>
            <a:ext cx="451713" cy="321868"/>
          </a:xfrm>
          <a:prstGeom prst="roundRect">
            <a:avLst>
              <a:gd name="adj" fmla="val 20000"/>
            </a:avLst>
          </a:prstGeom>
          <a:solidFill>
            <a:srgbClr val="C9B37E"/>
          </a:solidFill>
          <a:ln>
            <a:solidFill>
              <a:srgbClr val="8C70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970" y="2121408"/>
            <a:ext cx="3057754" cy="36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Titanium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6970" y="3529584"/>
            <a:ext cx="3057754" cy="281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E9F8"/>
                </a:solidFill>
                <a:latin typeface="Calibri"/>
              </a:rPr>
              <a:t>Drop your image 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8487" y="416052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7087" y="4343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3B6F"/>
                </a:solidFill>
                <a:latin typeface="Calibri"/>
              </a:rPr>
              <a:t>Titanium Card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87087" y="4846320"/>
            <a:ext cx="548640" cy="28575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7087" y="502920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Durable, secure design with advanced chip technology.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3247" y="192024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3714" y="2000707"/>
            <a:ext cx="3313786" cy="1850746"/>
          </a:xfrm>
          <a:prstGeom prst="roundRect">
            <a:avLst>
              <a:gd name="adj" fmla="val 7000"/>
            </a:avLst>
          </a:prstGeom>
          <a:solidFill>
            <a:srgbClr val="00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64343" y="1719072"/>
            <a:ext cx="1911096" cy="1106424"/>
          </a:xfrm>
          <a:prstGeom prst="ellipse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31224" y="2684678"/>
            <a:ext cx="451713" cy="321868"/>
          </a:xfrm>
          <a:prstGeom prst="roundRect">
            <a:avLst>
              <a:gd name="adj" fmla="val 20000"/>
            </a:avLst>
          </a:prstGeom>
          <a:solidFill>
            <a:srgbClr val="C9B37E"/>
          </a:solidFill>
          <a:ln>
            <a:solidFill>
              <a:srgbClr val="8C70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1730" y="2121408"/>
            <a:ext cx="3057754" cy="36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Card Family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1730" y="3529584"/>
            <a:ext cx="3057754" cy="281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E9F8"/>
                </a:solidFill>
                <a:latin typeface="Calibri"/>
              </a:rPr>
              <a:t>Drop your image here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3247" y="416052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1847" y="4343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3B6F"/>
                </a:solidFill>
                <a:latin typeface="Calibri"/>
              </a:rPr>
              <a:t>Card Family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81847" y="4846320"/>
            <a:ext cx="548640" cy="28575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1847" y="502920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A complete suite for every lifestyle and budget.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ADIB  •  Abu Dhabi Islamic Bank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CBE9F8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28016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ADEF"/>
                </a:solidFill>
                <a:latin typeface="Calibri"/>
              </a:rPr>
              <a:t>WHY ADIB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03B6F"/>
                </a:solidFill>
                <a:latin typeface="Calibri"/>
              </a:rPr>
              <a:t>Cardholder Benefits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E9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64592" cy="192024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99709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3B6F"/>
                </a:solidFill>
                <a:latin typeface="Calibri"/>
              </a:rPr>
              <a:t>Cashback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Earn cashback on everyday purchases.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8288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E9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2978" y="1828800"/>
            <a:ext cx="164592" cy="192024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8738" y="2057400"/>
            <a:ext cx="299709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3B6F"/>
                </a:solidFill>
                <a:latin typeface="Calibri"/>
              </a:rPr>
              <a:t>Travel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8738" y="265176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Airport lounge access and travel insurance.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18288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E9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7316" y="1828800"/>
            <a:ext cx="164592" cy="192024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3076" y="2057400"/>
            <a:ext cx="299709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3B6F"/>
                </a:solidFill>
                <a:latin typeface="Calibri"/>
              </a:rPr>
              <a:t>Lifestyle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265176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Dining, shopping and entertainment offers.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E9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77640"/>
            <a:ext cx="164592" cy="192024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06240"/>
            <a:ext cx="299709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3B6F"/>
                </a:solidFill>
                <a:latin typeface="Calibri"/>
              </a:rPr>
              <a:t>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006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Chip &amp; PIN plus contactless protection.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2978" y="39776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E9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2978" y="3977640"/>
            <a:ext cx="164592" cy="192024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738" y="4206240"/>
            <a:ext cx="299709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3B6F"/>
                </a:solidFill>
                <a:latin typeface="Calibri"/>
              </a:rPr>
              <a:t>Rewards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8738" y="48006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Loyalty points on qualifying 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7316" y="39776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E9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7316" y="3977640"/>
            <a:ext cx="164592" cy="192024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3076" y="4206240"/>
            <a:ext cx="299709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3B6F"/>
                </a:solidFill>
                <a:latin typeface="Calibri"/>
              </a:rPr>
              <a:t>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3076" y="4800600"/>
            <a:ext cx="299709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24/7 customer service worldwide.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ADIB  •  Abu Dhabi Islamic Bank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CBE9F8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28016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ADEF"/>
                </a:solidFill>
                <a:latin typeface="Calibri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03B6F"/>
                </a:solidFill>
                <a:latin typeface="Calibri"/>
              </a:rPr>
              <a:t>Platinum vs. Titanium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1828800"/>
            <a:ext cx="530352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003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1828800"/>
            <a:ext cx="5303520" cy="822960"/>
          </a:xfrm>
          <a:prstGeom prst="rect">
            <a:avLst/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447" y="1993392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Platinum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207" y="2834640"/>
            <a:ext cx="45720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3B6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Higher credit limit and premium benefits.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03B6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Cashback on all eligible spend.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03B6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Free supplementary cards.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03B6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Up to 55 days grace period.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03B6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Contactless &amp; Chip &amp; PIN security.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828800"/>
            <a:ext cx="530352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00A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828800"/>
            <a:ext cx="5303520" cy="82296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93392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Titanium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2834640"/>
            <a:ext cx="45720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ADE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Durable, modern card design.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0ADE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Strong rewards on retail spend.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0ADE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Lifestyle offers and partner discounts.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0ADE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Worldwide acceptance via MasterCard.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0ADEF"/>
                </a:solidFill>
                <a:latin typeface="Calibri"/>
              </a:rPr>
              <a:t>•  </a:t>
            </a:r>
            <a:r>
              <a:rPr sz="1500">
                <a:solidFill>
                  <a:srgbClr val="4A4A4A"/>
                </a:solidFill>
                <a:latin typeface="Calibri"/>
              </a:rPr>
              <a:t>Advanced chip &amp; contactless technology.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562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ADIB  •  Abu Dhabi Islamic Bank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CBE9F8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91295" y="-1828800"/>
            <a:ext cx="5486400" cy="5486400"/>
          </a:xfrm>
          <a:prstGeom prst="ellipse">
            <a:avLst/>
          </a:prstGeom>
          <a:solidFill>
            <a:srgbClr val="00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1097280" cy="38100"/>
          </a:xfrm>
          <a:prstGeom prst="rect">
            <a:avLst/>
          </a:prstGeom>
          <a:solidFill>
            <a:srgbClr val="00A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CBE9F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E9F8"/>
                </a:solidFill>
                <a:latin typeface="Calibri"/>
              </a:rPr>
              <a:t>ADIB  •  Abu Dhabi Islamic Bank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
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852160" y="0"/>
            <a:ext cx="633953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45720" cy="5394960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4206240" cy="841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2532887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B2A55"/>
                </a:solidFill>
                <a:latin typeface="Calibri"/>
              </a:rPr>
              <a:t>ADIB Covered Cards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7296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5B6B82"/>
                </a:solidFill>
                <a:latin typeface="Calibri"/>
              </a:rPr>
              <a:t>A simple, visual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75887"/>
            <a:ext cx="1097280" cy="45720"/>
          </a:xfrm>
          <a:prstGeom prst="rect">
            <a:avLst/>
          </a:prstGeom>
          <a:solidFill>
            <a:srgbClr val="C9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731520"/>
            <a:ext cx="58521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tinum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7828" y="914400"/>
            <a:ext cx="1040664" cy="1280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12680" y="11430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A55"/>
                </a:solidFill>
                <a:latin typeface="Calibri"/>
              </a:rPr>
              <a:t>Visa Platinum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12680" y="160020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2"/>
                </a:solidFill>
                <a:latin typeface="Calibri"/>
              </a:rPr>
              <a:t>ADIB Exceed</a:t>
            </a:r>
          </a:p>
        </p:txBody>
      </p:sp>
      <p:sp>
        <p:nvSpPr>
          <p:cNvPr id="12" name="Oval 11"/>
          <p:cNvSpPr/>
          <p:nvPr/>
        </p:nvSpPr>
        <p:spPr>
          <a:xfrm>
            <a:off x="10012680" y="2057400"/>
            <a:ext cx="109728" cy="109728"/>
          </a:xfrm>
          <a:prstGeom prst="ellipse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2606040"/>
            <a:ext cx="58521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itanium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7828" y="2788920"/>
            <a:ext cx="1040664" cy="1280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012680" y="301752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A55"/>
                </a:solidFill>
                <a:latin typeface="Calibri"/>
              </a:rPr>
              <a:t>Visa Exceed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347472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2"/>
                </a:solidFill>
                <a:latin typeface="Calibri"/>
              </a:rPr>
              <a:t>ADIB Exceed</a:t>
            </a:r>
          </a:p>
        </p:txBody>
      </p:sp>
      <p:sp>
        <p:nvSpPr>
          <p:cNvPr id="17" name="Oval 16"/>
          <p:cNvSpPr/>
          <p:nvPr/>
        </p:nvSpPr>
        <p:spPr>
          <a:xfrm>
            <a:off x="10012680" y="3931920"/>
            <a:ext cx="109728" cy="109728"/>
          </a:xfrm>
          <a:prstGeom prst="ellipse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26480" y="4480560"/>
            <a:ext cx="58521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ards_st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709160"/>
            <a:ext cx="3566160" cy="11887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48920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A55"/>
                </a:solidFill>
                <a:latin typeface="Calibri"/>
              </a:rPr>
              <a:t>Card Family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534924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2"/>
                </a:solidFill>
                <a:latin typeface="Calibri"/>
              </a:rPr>
              <a:t>ADIB Exceed</a:t>
            </a:r>
          </a:p>
        </p:txBody>
      </p:sp>
      <p:sp>
        <p:nvSpPr>
          <p:cNvPr id="22" name="Oval 21"/>
          <p:cNvSpPr/>
          <p:nvPr/>
        </p:nvSpPr>
        <p:spPr>
          <a:xfrm>
            <a:off x="10012680" y="5806440"/>
            <a:ext cx="109728" cy="109728"/>
          </a:xfrm>
          <a:prstGeom prst="ellipse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82"/>
                </a:solidFill>
                <a:latin typeface="Calibri"/>
              </a:rPr>
              <a:t>ADIB  -  Abu Dhabi Islamic 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82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73152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About ADIB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CBDCEF"/>
                </a:solidFill>
                <a:latin typeface="Calibri"/>
              </a:rPr>
              <a:t>Banking with purpose since 1997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98887" y="201168"/>
            <a:ext cx="1591056" cy="42062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274320"/>
            <a:ext cx="137160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82880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2A55"/>
                </a:solidFill>
                <a:latin typeface="Calibri"/>
              </a:rPr>
              <a:t>Who We 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60350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E2A3C"/>
                </a:solidFill>
                <a:latin typeface="Calibri"/>
              </a:rPr>
              <a:t>Abu Dhabi Islamic Bank (ADIB) is a leading Shari'a-compliant financial institution in the UAE, offering a full range of personal and business banking services that combine modern convenience with the principles of Islamic finance.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828800"/>
            <a:ext cx="2423160" cy="1691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14884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143F7A"/>
                </a:solidFill>
                <a:latin typeface="Calibri"/>
              </a:rPr>
              <a:t>1997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78892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B82"/>
                </a:solidFill>
                <a:latin typeface="Calibri"/>
              </a:rPr>
              <a:t>Year Founded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1828800"/>
            <a:ext cx="2423160" cy="1691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214884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143F7A"/>
                </a:solidFill>
                <a:latin typeface="Calibri"/>
              </a:rPr>
              <a:t>Top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278892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B82"/>
                </a:solidFill>
                <a:latin typeface="Calibri"/>
              </a:rPr>
              <a:t>Islamic Banks in UAE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3703320"/>
            <a:ext cx="2423160" cy="1691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40233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143F7A"/>
                </a:solidFill>
                <a:latin typeface="Calibri"/>
              </a:rPr>
              <a:t>Millions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6634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B82"/>
                </a:solidFill>
                <a:latin typeface="Calibri"/>
              </a:rPr>
              <a:t>Customers Served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55480" y="3703320"/>
            <a:ext cx="2423160" cy="1691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5480" y="40233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143F7A"/>
                </a:solidFill>
                <a:latin typeface="Calibri"/>
              </a:rPr>
              <a:t>Global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466344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B82"/>
                </a:solidFill>
                <a:latin typeface="Calibri"/>
              </a:rPr>
              <a:t>Branches &amp; Partners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82"/>
                </a:solidFill>
                <a:latin typeface="Calibri"/>
              </a:rPr>
              <a:t>ADIB  -  Abu Dhabi Islamic Bank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82"/>
                </a:solidFill>
                <a:latin typeface="Calibri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73152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Our Cards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CBDCEF"/>
                </a:solidFill>
                <a:latin typeface="Calibri"/>
              </a:rPr>
              <a:t>A card for every lifestyle, fully Shari'a compliant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98887" y="201168"/>
            <a:ext cx="1591056" cy="42062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274320"/>
            <a:ext cx="1371600" cy="274320"/>
          </a:xfrm>
          <a:prstGeom prst="rect">
            <a:avLst/>
          </a:prstGeom>
        </p:spPr>
      </p:pic>
      <p:pic>
        <p:nvPicPr>
          <p:cNvPr id="8" name="Picture 7" descr="cards_st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32760"/>
            <a:ext cx="5669280" cy="1889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0" y="18288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2A55"/>
                </a:solidFill>
                <a:latin typeface="Calibri"/>
              </a:rPr>
              <a:t>Choose what fits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52120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2E7CC6"/>
                </a:solidFill>
                <a:latin typeface="Calibri"/>
              </a:rPr>
              <a:t>■  </a:t>
            </a:r>
            <a:r>
              <a:rPr sz="1600">
                <a:solidFill>
                  <a:srgbClr val="1E2A3C"/>
                </a:solidFill>
                <a:latin typeface="Calibri"/>
              </a:rPr>
              <a:t>Earn Exceed Reward points on every purchase.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2E7CC6"/>
                </a:solidFill>
                <a:latin typeface="Calibri"/>
              </a:rPr>
              <a:t>■  </a:t>
            </a:r>
            <a:r>
              <a:rPr sz="1600">
                <a:solidFill>
                  <a:srgbClr val="1E2A3C"/>
                </a:solidFill>
                <a:latin typeface="Calibri"/>
              </a:rPr>
              <a:t>Complimentary airport lounge access.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2E7CC6"/>
                </a:solidFill>
                <a:latin typeface="Calibri"/>
              </a:rPr>
              <a:t>■  </a:t>
            </a:r>
            <a:r>
              <a:rPr sz="1600">
                <a:solidFill>
                  <a:srgbClr val="1E2A3C"/>
                </a:solidFill>
                <a:latin typeface="Calibri"/>
              </a:rPr>
              <a:t>Roadside assistance in the UAE.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2E7CC6"/>
                </a:solidFill>
                <a:latin typeface="Calibri"/>
              </a:rPr>
              <a:t>■  </a:t>
            </a:r>
            <a:r>
              <a:rPr sz="1600">
                <a:solidFill>
                  <a:srgbClr val="1E2A3C"/>
                </a:solidFill>
                <a:latin typeface="Calibri"/>
              </a:rPr>
              <a:t>Up to 4 free supplementary cards.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2E7CC6"/>
                </a:solidFill>
                <a:latin typeface="Calibri"/>
              </a:rPr>
              <a:t>■  </a:t>
            </a:r>
            <a:r>
              <a:rPr sz="1600">
                <a:solidFill>
                  <a:srgbClr val="1E2A3C"/>
                </a:solidFill>
                <a:latin typeface="Calibri"/>
              </a:rPr>
              <a:t>Manage everything in the ADIB Mobile App.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82"/>
                </a:solidFill>
                <a:latin typeface="Calibri"/>
              </a:rPr>
              <a:t>ADIB  -  Abu Dhabi Islamic Bank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82"/>
                </a:solidFill>
                <a:latin typeface="Calibri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73152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Compare Your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CBDCEF"/>
                </a:solidFill>
                <a:latin typeface="Calibri"/>
              </a:rPr>
              <a:t>Two ADIB Exceed covered cards, one perfect fit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98887" y="201168"/>
            <a:ext cx="1591056" cy="42062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274320"/>
            <a:ext cx="1371600" cy="274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828800"/>
            <a:ext cx="5486400" cy="4480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486400" cy="164592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2A55"/>
                </a:solidFill>
                <a:latin typeface="Calibri"/>
              </a:rPr>
              <a:t>ADIB Exceed Visa Platinum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2"/>
                </a:solidFill>
                <a:latin typeface="Calibri"/>
              </a:rPr>
              <a:t>For premium rewards and lifestyle perks</a:t>
            </a:r>
          </a:p>
        </p:txBody>
      </p:sp>
      <p:pic>
        <p:nvPicPr>
          <p:cNvPr id="12" name="Picture 11" descr="platinum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7068" y="3063240"/>
            <a:ext cx="1486663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5029200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E7CC6"/>
                </a:solidFill>
                <a:latin typeface="Calibri"/>
              </a:rPr>
              <a:t>■  </a:t>
            </a:r>
            <a:r>
              <a:rPr sz="1300">
                <a:solidFill>
                  <a:srgbClr val="1E2A3C"/>
                </a:solidFill>
                <a:latin typeface="Calibri"/>
              </a:rPr>
              <a:t>Up to 1.5 Exceed Rewards per AED 100 spent.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E7CC6"/>
                </a:solidFill>
                <a:latin typeface="Calibri"/>
              </a:rPr>
              <a:t>■  </a:t>
            </a:r>
            <a:r>
              <a:rPr sz="1300">
                <a:solidFill>
                  <a:srgbClr val="1E2A3C"/>
                </a:solidFill>
                <a:latin typeface="Calibri"/>
              </a:rPr>
              <a:t>2 free airport lounge visits per year.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E7CC6"/>
                </a:solidFill>
                <a:latin typeface="Calibri"/>
              </a:rPr>
              <a:t>■  </a:t>
            </a:r>
            <a:r>
              <a:rPr sz="1300">
                <a:solidFill>
                  <a:srgbClr val="1E2A3C"/>
                </a:solidFill>
                <a:latin typeface="Calibri"/>
              </a:rPr>
              <a:t>Free roadside assistance in the UAE.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5486400" cy="4480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828800"/>
            <a:ext cx="5486400" cy="164592"/>
          </a:xfrm>
          <a:prstGeom prst="rect">
            <a:avLst/>
          </a:prstGeom>
          <a:solidFill>
            <a:srgbClr val="C9A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1488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B2A55"/>
                </a:solidFill>
                <a:latin typeface="Calibri"/>
              </a:rPr>
              <a:t>ADIB Exceed Visa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06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B6B82"/>
                </a:solidFill>
                <a:latin typeface="Calibri"/>
              </a:rPr>
              <a:t>Everyday essentials with reliable rewards</a:t>
            </a:r>
          </a:p>
        </p:txBody>
      </p:sp>
      <p:pic>
        <p:nvPicPr>
          <p:cNvPr id="18" name="Picture 17" descr="titanium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9228" y="3063240"/>
            <a:ext cx="1486663" cy="1828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75120" y="5029200"/>
            <a:ext cx="47548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C9A24C"/>
                </a:solidFill>
                <a:latin typeface="Calibri"/>
              </a:rPr>
              <a:t>■  </a:t>
            </a:r>
            <a:r>
              <a:rPr sz="1300">
                <a:solidFill>
                  <a:srgbClr val="1E2A3C"/>
                </a:solidFill>
                <a:latin typeface="Calibri"/>
              </a:rPr>
              <a:t>Up to 1 Exceed Reward per AED 100 spent.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C9A24C"/>
                </a:solidFill>
                <a:latin typeface="Calibri"/>
              </a:rPr>
              <a:t>■  </a:t>
            </a:r>
            <a:r>
              <a:rPr sz="1300">
                <a:solidFill>
                  <a:srgbClr val="1E2A3C"/>
                </a:solidFill>
                <a:latin typeface="Calibri"/>
              </a:rPr>
              <a:t>Free roadside assistance in the UAE.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C9A24C"/>
                </a:solidFill>
                <a:latin typeface="Calibri"/>
              </a:rPr>
              <a:t>■  </a:t>
            </a:r>
            <a:r>
              <a:rPr sz="1300">
                <a:solidFill>
                  <a:srgbClr val="1E2A3C"/>
                </a:solidFill>
                <a:latin typeface="Calibri"/>
              </a:rPr>
              <a:t>Wide global Visa acceptance.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82"/>
                </a:solidFill>
                <a:latin typeface="Calibri"/>
              </a:rPr>
              <a:t>ADIB  -  Abu Dhabi Islamic Bank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82"/>
                </a:solidFill>
                <a:latin typeface="Calibri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73152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CBDCEF"/>
                </a:solidFill>
                <a:latin typeface="Calibri"/>
              </a:rPr>
              <a:t>Why customers love ADIB cards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98887" y="201168"/>
            <a:ext cx="1591056" cy="42062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274320"/>
            <a:ext cx="1371600" cy="274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182880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DE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91440" cy="1417320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55"/>
                </a:solidFill>
                <a:latin typeface="Calibri"/>
              </a:rPr>
              <a:t>Exceed Rewards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2A3C"/>
                </a:solidFill>
                <a:latin typeface="Calibri"/>
              </a:rPr>
              <a:t>Earn points on every spend and redeem on shopping, flights and bills.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82880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DE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828800"/>
            <a:ext cx="91440" cy="1417320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55"/>
                </a:solidFill>
                <a:latin typeface="Calibri"/>
              </a:rPr>
              <a:t>Airport Lounges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688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2A3C"/>
                </a:solidFill>
                <a:latin typeface="Calibri"/>
              </a:rPr>
              <a:t>Relax before your flight with complimentary global lounge access.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82880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DE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828800"/>
            <a:ext cx="91440" cy="1417320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116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55"/>
                </a:solidFill>
                <a:latin typeface="Calibri"/>
              </a:rPr>
              <a:t>Roadside Assistance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688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2A3C"/>
                </a:solidFill>
                <a:latin typeface="Calibri"/>
              </a:rPr>
              <a:t>Free help on UAE roads whenever you need it most.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2900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DE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429000"/>
            <a:ext cx="91440" cy="1417320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611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55"/>
                </a:solidFill>
                <a:latin typeface="Calibri"/>
              </a:rPr>
              <a:t>Shari'a Compliant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2A3C"/>
                </a:solidFill>
                <a:latin typeface="Calibri"/>
              </a:rPr>
              <a:t>Built on transparent Islamic finance principles you can trust.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42900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DE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429000"/>
            <a:ext cx="91440" cy="1417320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611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55"/>
                </a:solidFill>
                <a:latin typeface="Calibri"/>
              </a:rPr>
              <a:t>Mobile First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2A3C"/>
                </a:solidFill>
                <a:latin typeface="Calibri"/>
              </a:rPr>
              <a:t>Manage cards, statements and payments from the ADIB app.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42900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9525">
            <a:solidFill>
              <a:srgbClr val="DE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429000"/>
            <a:ext cx="91440" cy="1417320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3611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A55"/>
                </a:solidFill>
                <a:latin typeface="Calibri"/>
              </a:rPr>
              <a:t>Supplementary Cards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2A3C"/>
                </a:solidFill>
                <a:latin typeface="Calibri"/>
              </a:rPr>
              <a:t>Up to 4 free supplementary cards for your family.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82"/>
                </a:solidFill>
                <a:latin typeface="Calibri"/>
              </a:rPr>
              <a:t>ADIB  -  Abu Dhabi Islamic Bank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82"/>
                </a:solidFill>
                <a:latin typeface="Calibri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B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1695" cy="73152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How to Apply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CBDCEF"/>
                </a:solidFill>
                <a:latin typeface="Calibri"/>
              </a:rPr>
              <a:t>Three simple steps to your ADIB card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98887" y="201168"/>
            <a:ext cx="1591056" cy="42062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274320"/>
            <a:ext cx="1371600" cy="274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80847" y="2194560"/>
            <a:ext cx="36576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287" y="2560320"/>
            <a:ext cx="1188720" cy="1188720"/>
          </a:xfrm>
          <a:prstGeom prst="ellipse">
            <a:avLst/>
          </a:prstGeom>
          <a:solidFill>
            <a:srgbClr val="14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847" y="2560320"/>
            <a:ext cx="3657600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167" y="4069079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B2A55"/>
                </a:solidFill>
                <a:latin typeface="Calibri"/>
              </a:rPr>
              <a:t>Choose Your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167" y="47091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1E2A3C"/>
                </a:solidFill>
                <a:latin typeface="Calibri"/>
              </a:rPr>
              <a:t>Pick the ADIB Exceed Visa Platinum or Exceed Visa card that fits you.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2194560"/>
            <a:ext cx="36576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01487" y="2560320"/>
            <a:ext cx="1188720" cy="1188720"/>
          </a:xfrm>
          <a:prstGeom prst="ellipse">
            <a:avLst/>
          </a:prstGeom>
          <a:solidFill>
            <a:srgbClr val="14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7047" y="2560320"/>
            <a:ext cx="3657600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1367" y="4069079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B2A55"/>
                </a:solidFill>
                <a:latin typeface="Calibri"/>
              </a:rPr>
              <a:t>Submit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47091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1E2A3C"/>
                </a:solidFill>
                <a:latin typeface="Calibri"/>
              </a:rPr>
              <a:t>Provide Emirates ID, passport, salary certificate and bank statement.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247" y="2194560"/>
            <a:ext cx="365760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87687" y="2560320"/>
            <a:ext cx="1188720" cy="1188720"/>
          </a:xfrm>
          <a:prstGeom prst="ellipse">
            <a:avLst/>
          </a:prstGeom>
          <a:solidFill>
            <a:srgbClr val="14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3247" y="2560320"/>
            <a:ext cx="3657600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7567" y="4069079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B2A55"/>
                </a:solidFill>
                <a:latin typeface="Calibri"/>
              </a:rPr>
              <a:t>Activate &amp; Enjoy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7567" y="47091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1E2A3C"/>
                </a:solidFill>
                <a:latin typeface="Calibri"/>
              </a:rPr>
              <a:t>Receive your card, activate via the ADIB app, and start earning rewards.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B6B82"/>
                </a:solidFill>
                <a:latin typeface="Calibri"/>
              </a:rPr>
              <a:t>ADIB  -  Abu Dhabi Islamic 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B82"/>
                </a:solidFill>
                <a:latin typeface="Calibri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5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E7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352647" y="822960"/>
            <a:ext cx="5486400" cy="1645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di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847" y="1188720"/>
            <a:ext cx="45720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926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8862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C9DBEF"/>
                </a:solidFill>
                <a:latin typeface="Calibri"/>
              </a:rPr>
              <a:t>Questions?  Visit  adib.ae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C9DBEF"/>
                </a:solidFill>
                <a:latin typeface="Calibri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
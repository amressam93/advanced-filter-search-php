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66560" y="0"/>
            <a:ext cx="73152" cy="685800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54480"/>
            <a:ext cx="4206240" cy="841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283464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3668"/>
                </a:solidFill>
                <a:latin typeface="Calibri"/>
              </a:rPr>
              <a:t>Abu Dhabi Islamic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9ABE2"/>
                </a:solidFill>
                <a:latin typeface="Calibri"/>
              </a:rPr>
              <a:t>Cards &amp; Banking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160520"/>
            <a:ext cx="2011680" cy="41148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6473"/>
                </a:solidFill>
                <a:latin typeface="Calibri"/>
              </a:rPr>
              <a:t>Simple. Sharia-compliant. Designed around you.</a:t>
            </a:r>
          </a:p>
        </p:txBody>
      </p:sp>
      <p:pic>
        <p:nvPicPr>
          <p:cNvPr id="10" name="Picture 9" descr="plati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046" y="315468"/>
            <a:ext cx="2139427" cy="1965960"/>
          </a:xfrm>
          <a:prstGeom prst="rect">
            <a:avLst/>
          </a:prstGeom>
        </p:spPr>
      </p:pic>
      <p:pic>
        <p:nvPicPr>
          <p:cNvPr id="11" name="Picture 10" descr="adib-covered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431" y="2446020"/>
            <a:ext cx="2136657" cy="1965960"/>
          </a:xfrm>
          <a:prstGeom prst="rect">
            <a:avLst/>
          </a:prstGeom>
        </p:spPr>
      </p:pic>
      <p:pic>
        <p:nvPicPr>
          <p:cNvPr id="12" name="Picture 11" descr="cashb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0046" y="4576572"/>
            <a:ext cx="2139427" cy="1965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647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B3668"/>
                </a:solidFill>
                <a:latin typeface="Calibri"/>
              </a:rPr>
              <a:t>About ADIB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473"/>
                </a:solidFill>
                <a:latin typeface="Calibri"/>
              </a:rPr>
              <a:t>A leading Islamic bank in the UAE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02920"/>
            <a:ext cx="1645920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828800"/>
            <a:ext cx="5257800" cy="1920240"/>
          </a:xfrm>
          <a:prstGeom prst="rect">
            <a:avLst/>
          </a:prstGeom>
          <a:solidFill>
            <a:srgbClr val="F4F8FB"/>
          </a:solidFill>
          <a:ln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82296" cy="19202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3668"/>
                </a:solidFill>
                <a:latin typeface="Calibri"/>
              </a:rPr>
              <a:t>Founded in 1997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3"/>
                </a:solidFill>
                <a:latin typeface="Calibri"/>
              </a:rPr>
              <a:t>Headquartered in Abu Dhabi, serving more than one million customers.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257800" cy="1920240"/>
          </a:xfrm>
          <a:prstGeom prst="rect">
            <a:avLst/>
          </a:prstGeom>
          <a:solidFill>
            <a:srgbClr val="F4F8FB"/>
          </a:solidFill>
          <a:ln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82296" cy="19202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3668"/>
                </a:solidFill>
                <a:latin typeface="Calibri"/>
              </a:rPr>
              <a:t>Sharia-compliant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3"/>
                </a:solidFill>
                <a:latin typeface="Calibri"/>
              </a:rPr>
              <a:t>All products and services follow the principles of Islamic banking.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257800" cy="1920240"/>
          </a:xfrm>
          <a:prstGeom prst="rect">
            <a:avLst/>
          </a:prstGeom>
          <a:solidFill>
            <a:srgbClr val="F4F8FB"/>
          </a:solidFill>
          <a:ln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82296" cy="19202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3668"/>
                </a:solidFill>
                <a:latin typeface="Calibri"/>
              </a:rPr>
              <a:t>Award-winning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3"/>
                </a:solidFill>
                <a:latin typeface="Calibri"/>
              </a:rPr>
              <a:t>Repeatedly recognised as one of the world's best Islamic banks.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023360"/>
            <a:ext cx="5257800" cy="1920240"/>
          </a:xfrm>
          <a:prstGeom prst="rect">
            <a:avLst/>
          </a:prstGeom>
          <a:solidFill>
            <a:srgbClr val="F4F8FB"/>
          </a:solidFill>
          <a:ln>
            <a:solidFill>
              <a:srgbClr val="DD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23360"/>
            <a:ext cx="82296" cy="19202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4617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3668"/>
                </a:solidFill>
                <a:latin typeface="Calibri"/>
              </a:rPr>
              <a:t>Digital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4617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473"/>
                </a:solidFill>
                <a:latin typeface="Calibri"/>
              </a:rPr>
              <a:t>Full mobile and online banking for everyday needs.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647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B3668"/>
                </a:solidFill>
                <a:latin typeface="Calibri"/>
              </a:rPr>
              <a:t>Our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473"/>
                </a:solidFill>
                <a:latin typeface="Calibri"/>
              </a:rPr>
              <a:t>One card for every lifestyle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02920"/>
            <a:ext cx="1645920" cy="329184"/>
          </a:xfrm>
          <a:prstGeom prst="rect">
            <a:avLst/>
          </a:prstGeom>
        </p:spPr>
      </p:pic>
      <p:pic>
        <p:nvPicPr>
          <p:cNvPr id="7" name="Picture 6" descr="plati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36" y="1828800"/>
            <a:ext cx="2985247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006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B3668"/>
                </a:solidFill>
                <a:latin typeface="Calibri"/>
              </a:rPr>
              <a:t>Platinum Covered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473"/>
                </a:solidFill>
                <a:latin typeface="Calibri"/>
              </a:rPr>
              <a:t>Premium benefits, travel perks and global acceptance.</a:t>
            </a:r>
          </a:p>
        </p:txBody>
      </p:sp>
      <p:pic>
        <p:nvPicPr>
          <p:cNvPr id="10" name="Picture 9" descr="adib-covered-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789" y="1828800"/>
            <a:ext cx="2981382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48006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B3668"/>
                </a:solidFill>
                <a:latin typeface="Calibri"/>
              </a:rPr>
              <a:t>Classic Covered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530352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473"/>
                </a:solidFill>
                <a:latin typeface="Calibri"/>
              </a:rPr>
              <a:t>Everyday essentials with the trusted ADIB design.</a:t>
            </a:r>
          </a:p>
        </p:txBody>
      </p:sp>
      <p:pic>
        <p:nvPicPr>
          <p:cNvPr id="13" name="Picture 12" descr="cashb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176" y="1828800"/>
            <a:ext cx="2985247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20" y="48006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B3668"/>
                </a:solidFill>
                <a:latin typeface="Calibri"/>
              </a:rPr>
              <a:t>Cashback Visa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303520"/>
            <a:ext cx="3566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6473"/>
                </a:solidFill>
                <a:latin typeface="Calibri"/>
              </a:rPr>
              <a:t>Real cashback on the spending you already 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647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09728" cy="77724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B3668"/>
                </a:solidFill>
                <a:latin typeface="Calibri"/>
              </a:rPr>
              <a:t>Key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473"/>
                </a:solidFill>
                <a:latin typeface="Calibri"/>
              </a:rPr>
              <a:t>Why customers choose ADIB cards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02920"/>
            <a:ext cx="1645920" cy="32918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914400" y="2002536"/>
            <a:ext cx="201168" cy="201168"/>
          </a:xfrm>
          <a:prstGeom prst="ellips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92024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3668"/>
                </a:solidFill>
                <a:latin typeface="Calibri"/>
              </a:rPr>
              <a:t>Sharia-compliant covered cards - no interest, ever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715768"/>
            <a:ext cx="201168" cy="201168"/>
          </a:xfrm>
          <a:prstGeom prst="ellips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633472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3668"/>
                </a:solidFill>
                <a:latin typeface="Calibri"/>
              </a:rPr>
              <a:t>Cashback and rewards on local and international spending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29000"/>
            <a:ext cx="201168" cy="201168"/>
          </a:xfrm>
          <a:prstGeom prst="ellips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346704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3668"/>
                </a:solidFill>
                <a:latin typeface="Calibri"/>
              </a:rPr>
              <a:t>Free airport lounge access on premium cards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142232"/>
            <a:ext cx="201168" cy="201168"/>
          </a:xfrm>
          <a:prstGeom prst="ellips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059936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3668"/>
                </a:solidFill>
                <a:latin typeface="Calibri"/>
              </a:rPr>
              <a:t>Valet parking and 24/7 roadside assistance across the UAE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855464"/>
            <a:ext cx="201168" cy="201168"/>
          </a:xfrm>
          <a:prstGeom prst="ellips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773168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3668"/>
                </a:solidFill>
                <a:latin typeface="Calibri"/>
              </a:rPr>
              <a:t>Contactless payments and instant card controls in the app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568696"/>
            <a:ext cx="201168" cy="201168"/>
          </a:xfrm>
          <a:prstGeom prst="ellipse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548640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B3668"/>
                </a:solidFill>
                <a:latin typeface="Calibri"/>
              </a:rPr>
              <a:t>Worldwide acceptance with Visa and Mastercard</a:t>
            </a:r>
          </a:p>
        </p:txBody>
      </p:sp>
      <p:pic>
        <p:nvPicPr>
          <p:cNvPr id="19" name="Picture 18" descr="plati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335427"/>
            <a:ext cx="3474720" cy="319298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647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84167" y="1371600"/>
            <a:ext cx="4023360" cy="13716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7" y="1728216"/>
            <a:ext cx="3291840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3291840"/>
            <a:ext cx="94484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BFD9EE"/>
                </a:solidFill>
                <a:latin typeface="Calibri"/>
              </a:rPr>
              <a:t>Banking as it should 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484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8FB4D9"/>
                </a:solidFill>
                <a:latin typeface="Calibri"/>
              </a:rPr>
              <a:t>adib.ae  |  600 543216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
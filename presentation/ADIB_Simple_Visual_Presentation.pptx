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3982"/>
                </a:solidFill>
              </a:defRPr>
            </a:pPr>
            <a:r>
              <a:t>ADIB Cards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7080"/>
                </a:solidFill>
              </a:defRPr>
            </a:pPr>
            <a:r>
              <a:t>Simple, visual and readable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4480560"/>
          </a:xfrm>
          <a:prstGeom prst="rect">
            <a:avLst/>
          </a:prstGeom>
          <a:solidFill>
            <a:srgbClr val="D5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389120" cy="1738092"/>
          </a:xfrm>
          <a:prstGeom prst="rect">
            <a:avLst/>
          </a:prstGeom>
        </p:spPr>
      </p:pic>
      <p:pic>
        <p:nvPicPr>
          <p:cNvPr id="7" name="Picture 6" descr="cards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45920"/>
            <a:ext cx="4754880" cy="3145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7080"/>
                </a:solidFill>
              </a:defRPr>
            </a:pPr>
            <a:r>
              <a:t>Slide 1: Logo on left + card visual on right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3982"/>
                </a:solidFill>
              </a:defRPr>
            </a:pPr>
            <a:r>
              <a:t>Brand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7080"/>
                </a:solidFill>
              </a:defRPr>
            </a:pPr>
            <a:r>
              <a:t>A clean, modern visual identity</a:t>
            </a:r>
          </a:p>
        </p:txBody>
      </p:sp>
      <p:pic>
        <p:nvPicPr>
          <p:cNvPr id="5" name="Picture 4" descr="logo-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182880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B36"/>
                </a:solidFill>
              </a:defRPr>
            </a:pPr>
            <a:r>
              <a:t>Recognizable ADIB brand and premium card style</a:t>
            </a:r>
          </a:p>
          <a:p>
            <a:pPr>
              <a:spcAft>
                <a:spcPts val="800"/>
              </a:spcAft>
              <a:defRPr sz="2100">
                <a:solidFill>
                  <a:srgbClr val="212B36"/>
                </a:solidFill>
              </a:defRPr>
            </a:pPr>
            <a:r>
              <a:t>Consistent blue/grey palette for trust and clarity</a:t>
            </a:r>
          </a:p>
          <a:p>
            <a:pPr>
              <a:spcAft>
                <a:spcPts val="800"/>
              </a:spcAft>
              <a:defRPr sz="2100">
                <a:solidFill>
                  <a:srgbClr val="212B36"/>
                </a:solidFill>
              </a:defRPr>
            </a:pPr>
            <a:r>
              <a:t>Visuals centered on products, not heavy text</a:t>
            </a:r>
          </a:p>
        </p:txBody>
      </p:sp>
      <p:pic>
        <p:nvPicPr>
          <p:cNvPr id="7" name="Picture 6" descr="card-titan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794760"/>
            <a:ext cx="3840480" cy="2540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7080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3982"/>
                </a:solidFill>
              </a:defRPr>
            </a:pPr>
            <a:r>
              <a:t>Card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7080"/>
                </a:solidFill>
              </a:defRPr>
            </a:pPr>
            <a:r>
              <a:t>Classic, Titanium and Platinum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56616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d-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3108960" cy="20566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9496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3982"/>
                </a:solidFill>
              </a:defRPr>
            </a:pPr>
            <a:r>
              <a:t>Classic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56616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d-titan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65960"/>
            <a:ext cx="3108960" cy="20566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539496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3982"/>
                </a:solidFill>
              </a:defRPr>
            </a:pPr>
            <a:r>
              <a:t>Titanium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56616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d-plati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65960"/>
            <a:ext cx="3108960" cy="20566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539496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3982"/>
                </a:solidFill>
              </a:defRPr>
            </a:pPr>
            <a:r>
              <a:t>Platinum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7080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3982"/>
                </a:solidFill>
              </a:defRPr>
            </a:pPr>
            <a:r>
              <a:t>Platinum Card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7080"/>
                </a:solidFill>
              </a:defRPr>
            </a:pPr>
            <a:r>
              <a:t>Featured premium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6492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d-plati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5960"/>
            <a:ext cx="5669280" cy="37504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965960"/>
            <a:ext cx="374903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B36"/>
                </a:solidFill>
              </a:defRPr>
            </a:pPr>
            <a:r>
              <a:t>High-contrast card face with elegant finish</a:t>
            </a:r>
          </a:p>
          <a:p>
            <a:pPr>
              <a:spcAft>
                <a:spcPts val="800"/>
              </a:spcAft>
              <a:defRPr sz="2100">
                <a:solidFill>
                  <a:srgbClr val="212B36"/>
                </a:solidFill>
              </a:defRPr>
            </a:pPr>
            <a:r>
              <a:t>Simple visual hierarchy keeps content readable</a:t>
            </a:r>
          </a:p>
          <a:p>
            <a:pPr>
              <a:spcAft>
                <a:spcPts val="800"/>
              </a:spcAft>
              <a:defRPr sz="2100">
                <a:solidFill>
                  <a:srgbClr val="212B36"/>
                </a:solidFill>
              </a:defRPr>
            </a:pPr>
            <a:r>
              <a:t>Mastercard mark and contactless icon are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7080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3982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7080"/>
                </a:solidFill>
              </a:defRPr>
            </a:pPr>
            <a:r>
              <a:t>Simple visual design for a professional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42900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3982"/>
                </a:solidFill>
              </a:defRPr>
            </a:pPr>
            <a: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Minimal text and clean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011680"/>
            <a:ext cx="342900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317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3982"/>
                </a:solidFill>
              </a:defRPr>
            </a:pPr>
            <a:r>
              <a:t>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8036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Strong product imagery on every key slide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011680"/>
            <a:ext cx="342900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3317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3982"/>
                </a:solidFill>
              </a:defRPr>
            </a:pPr>
            <a:r>
              <a:t>Readable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88036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Large headings with high contrast colors</a:t>
            </a:r>
          </a:p>
        </p:txBody>
      </p:sp>
      <p:pic>
        <p:nvPicPr>
          <p:cNvPr id="14" name="Picture 13" descr="logo-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5577840"/>
            <a:ext cx="4206240" cy="16656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3093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7080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
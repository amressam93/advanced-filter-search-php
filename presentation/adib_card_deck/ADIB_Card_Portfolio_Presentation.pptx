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502920"/>
            <a:ext cx="4892040" cy="58338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im_adi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024128"/>
            <a:ext cx="3520440" cy="6600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0120" y="2084831"/>
            <a:ext cx="3977639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2455"/>
                </a:solidFill>
                <a:latin typeface="Aptos"/>
              </a:rPr>
              <a:t>ADIB Card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697480"/>
            <a:ext cx="3886200" cy="868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C6C7C"/>
                </a:solidFill>
                <a:latin typeface="Aptos"/>
              </a:rPr>
              <a:t>Simple visual overview of ADIB card options and customer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" y="3822191"/>
            <a:ext cx="1078992" cy="310896"/>
          </a:xfrm>
          <a:prstGeom prst="round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Cashback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9424" y="3822191"/>
            <a:ext cx="1078992" cy="31089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Lifestyle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3822191"/>
            <a:ext cx="1078992" cy="31089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Secure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892040"/>
            <a:ext cx="3657600" cy="3474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4A8F"/>
                </a:solidFill>
                <a:latin typeface="Aptos"/>
              </a:rPr>
              <a:t>Clean design. Clear message. Easy to 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44184" y="786384"/>
            <a:ext cx="5166360" cy="2176272"/>
          </a:xfrm>
          <a:prstGeom prst="round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ards_sta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713232"/>
            <a:ext cx="5166360" cy="2176272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53912" y="3163824"/>
            <a:ext cx="2542032" cy="914400"/>
          </a:xfrm>
          <a:prstGeom prst="round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im_mc_platin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9048" y="3090672"/>
            <a:ext cx="2542032" cy="168165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695944" y="3163824"/>
            <a:ext cx="2542032" cy="914400"/>
          </a:xfrm>
          <a:prstGeom prst="round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im_mc_titaniu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3090672"/>
            <a:ext cx="2542032" cy="16816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80760" y="5806440"/>
            <a:ext cx="47548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04A8F"/>
                </a:solidFill>
                <a:latin typeface="Aptos"/>
              </a:rPr>
              <a:t>Cards at a glance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75895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2455"/>
                </a:solidFill>
                <a:latin typeface="Aptos"/>
              </a:rPr>
              <a:t>Card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71323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A simple view of the cards and the lifestyle needs they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115568" cy="54864"/>
          </a:xfrm>
          <a:prstGeom prst="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246120" cy="4005072"/>
          </a:xfrm>
          <a:prstGeom prst="roundRect">
            <a:avLst/>
          </a:prstGeom>
          <a:solidFill>
            <a:srgbClr val="FFFFFF"/>
          </a:solidFill>
          <a:ln>
            <a:solidFill>
              <a:srgbClr val="E0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rim_mc_plati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48840"/>
            <a:ext cx="2606040" cy="17239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98448" y="4059936"/>
            <a:ext cx="2103120" cy="310896"/>
          </a:xfrm>
          <a:prstGeom prst="round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4617720"/>
            <a:ext cx="2487168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C6C7C"/>
                </a:solidFill>
                <a:latin typeface="Aptos"/>
              </a:rPr>
              <a:t>Premium value and everyday cashback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1783080"/>
            <a:ext cx="3246120" cy="4005072"/>
          </a:xfrm>
          <a:prstGeom prst="roundRect">
            <a:avLst/>
          </a:prstGeom>
          <a:solidFill>
            <a:srgbClr val="FFFFFF"/>
          </a:solidFill>
          <a:ln>
            <a:solidFill>
              <a:srgbClr val="E0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m_mc_titan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148840"/>
            <a:ext cx="2606040" cy="172399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120640" y="4059936"/>
            <a:ext cx="2103120" cy="31089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TITANIUM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617720"/>
            <a:ext cx="2487168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C6C7C"/>
                </a:solidFill>
                <a:latin typeface="Aptos"/>
              </a:rPr>
              <a:t>Accessible rewards with Mastercard acceptance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1783080"/>
            <a:ext cx="3246120" cy="4005072"/>
          </a:xfrm>
          <a:prstGeom prst="roundRect">
            <a:avLst/>
          </a:prstGeom>
          <a:solidFill>
            <a:srgbClr val="FFFFFF"/>
          </a:solidFill>
          <a:ln>
            <a:solidFill>
              <a:srgbClr val="E0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trim_cashback_platinum_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4" y="2148840"/>
            <a:ext cx="2606040" cy="239341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8942832" y="4059936"/>
            <a:ext cx="2103120" cy="310896"/>
          </a:xfrm>
          <a:prstGeom prst="roundRect">
            <a:avLst/>
          </a:prstGeom>
          <a:solidFill>
            <a:srgbClr val="33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CASHBACK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4617720"/>
            <a:ext cx="2487168" cy="6217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5C6C7C"/>
                </a:solidFill>
                <a:latin typeface="Aptos"/>
              </a:rPr>
              <a:t>Straightforward savings on daily spend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rk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12648" y="1335024"/>
            <a:ext cx="1115568" cy="54864"/>
          </a:xfrm>
          <a:prstGeom prst="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47472"/>
            <a:ext cx="11274552" cy="6163056"/>
          </a:xfrm>
          <a:prstGeom prst="roundRect">
            <a:avLst/>
          </a:prstGeom>
          <a:solidFill>
            <a:srgbClr val="0C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594360"/>
            <a:ext cx="75895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Key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133856"/>
            <a:ext cx="71323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FE0EE"/>
                </a:solidFill>
                <a:latin typeface="Aptos"/>
              </a:rPr>
              <a:t>Simple, confident everyday payments.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2148840"/>
            <a:ext cx="1325880" cy="1325880"/>
          </a:xfrm>
          <a:prstGeom prst="ellipse">
            <a:avLst/>
          </a:prstGeom>
          <a:solidFill>
            <a:srgbClr val="00AEDB"/>
          </a:solidFill>
          <a:ln>
            <a:solidFill>
              <a:srgbClr val="B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2514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Cashback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96512"/>
            <a:ext cx="25146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FE0EE"/>
                </a:solidFill>
                <a:latin typeface="Aptos"/>
              </a:rPr>
              <a:t>Clear value on everyday purchases</a:t>
            </a:r>
          </a:p>
        </p:txBody>
      </p:sp>
      <p:sp>
        <p:nvSpPr>
          <p:cNvPr id="12" name="Oval 11"/>
          <p:cNvSpPr/>
          <p:nvPr/>
        </p:nvSpPr>
        <p:spPr>
          <a:xfrm>
            <a:off x="4206239" y="2148840"/>
            <a:ext cx="1325880" cy="1325880"/>
          </a:xfrm>
          <a:prstGeom prst="ellipse">
            <a:avLst/>
          </a:prstGeom>
          <a:solidFill>
            <a:srgbClr val="004A8F"/>
          </a:solidFill>
          <a:ln>
            <a:solidFill>
              <a:srgbClr val="B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NFC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3703320"/>
            <a:ext cx="2514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Contactless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4096512"/>
            <a:ext cx="25146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FE0EE"/>
                </a:solidFill>
                <a:latin typeface="Aptos"/>
              </a:rPr>
              <a:t>Fast, convenient tap-to-pay use</a:t>
            </a:r>
          </a:p>
        </p:txBody>
      </p:sp>
      <p:sp>
        <p:nvSpPr>
          <p:cNvPr id="15" name="Oval 14"/>
          <p:cNvSpPr/>
          <p:nvPr/>
        </p:nvSpPr>
        <p:spPr>
          <a:xfrm>
            <a:off x="6995160" y="2148840"/>
            <a:ext cx="1325880" cy="1325880"/>
          </a:xfrm>
          <a:prstGeom prst="ellipse">
            <a:avLst/>
          </a:prstGeom>
          <a:solidFill>
            <a:srgbClr val="00AEDB"/>
          </a:solidFill>
          <a:ln>
            <a:solidFill>
              <a:srgbClr val="B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24/7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03320"/>
            <a:ext cx="2514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Digital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96512"/>
            <a:ext cx="25146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FE0EE"/>
                </a:solidFill>
                <a:latin typeface="Aptos"/>
              </a:rPr>
              <a:t>Manage cards through online channels</a:t>
            </a:r>
          </a:p>
        </p:txBody>
      </p:sp>
      <p:sp>
        <p:nvSpPr>
          <p:cNvPr id="18" name="Oval 17"/>
          <p:cNvSpPr/>
          <p:nvPr/>
        </p:nvSpPr>
        <p:spPr>
          <a:xfrm>
            <a:off x="9784079" y="2148840"/>
            <a:ext cx="1325880" cy="1325880"/>
          </a:xfrm>
          <a:prstGeom prst="ellipse">
            <a:avLst/>
          </a:prstGeom>
          <a:solidFill>
            <a:srgbClr val="004A8F"/>
          </a:solidFill>
          <a:ln>
            <a:solidFill>
              <a:srgbClr val="B9E1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PIN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3703320"/>
            <a:ext cx="251460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4096512"/>
            <a:ext cx="2514600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FE0EE"/>
                </a:solidFill>
                <a:latin typeface="Aptos"/>
              </a:rPr>
              <a:t>Chip, PIN, and transaction alerts</a:t>
            </a:r>
          </a:p>
        </p:txBody>
      </p:sp>
      <p:pic>
        <p:nvPicPr>
          <p:cNvPr id="21" name="Picture 20" descr="adib_or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475488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02336"/>
            <a:ext cx="758952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2455"/>
                </a:solidFill>
                <a:latin typeface="Aptos"/>
              </a:rPr>
              <a:t>Platinum vs Titanium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41832"/>
            <a:ext cx="7132320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C6C7C"/>
                </a:solidFill>
                <a:latin typeface="Aptos"/>
              </a:rPr>
              <a:t>Keep the choice simple: match the card tier to the customer need.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335024"/>
            <a:ext cx="1115568" cy="54864"/>
          </a:xfrm>
          <a:prstGeom prst="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8952" y="1783080"/>
            <a:ext cx="4864608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B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78992" y="2029968"/>
            <a:ext cx="1417320" cy="310896"/>
          </a:xfrm>
          <a:prstGeom prst="round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PLATINUM</a:t>
            </a:r>
          </a:p>
        </p:txBody>
      </p:sp>
      <p:pic>
        <p:nvPicPr>
          <p:cNvPr id="7" name="Picture 6" descr="trim_mc_platin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92807"/>
            <a:ext cx="2148840" cy="14215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170432" y="3410712"/>
            <a:ext cx="118872" cy="118872"/>
          </a:xfrm>
          <a:prstGeom prst="ellipse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3337560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Premium positioning</a:t>
            </a:r>
          </a:p>
        </p:txBody>
      </p:sp>
      <p:sp>
        <p:nvSpPr>
          <p:cNvPr id="10" name="Oval 9"/>
          <p:cNvSpPr/>
          <p:nvPr/>
        </p:nvSpPr>
        <p:spPr>
          <a:xfrm>
            <a:off x="1170432" y="3849624"/>
            <a:ext cx="118872" cy="118872"/>
          </a:xfrm>
          <a:prstGeom prst="ellipse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776472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Strong card presence</a:t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4288536"/>
            <a:ext cx="118872" cy="118872"/>
          </a:xfrm>
          <a:prstGeom prst="ellipse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4215383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Best for frequent spenders</a:t>
            </a:r>
          </a:p>
        </p:txBody>
      </p:sp>
      <p:sp>
        <p:nvSpPr>
          <p:cNvPr id="14" name="Oval 13"/>
          <p:cNvSpPr/>
          <p:nvPr/>
        </p:nvSpPr>
        <p:spPr>
          <a:xfrm>
            <a:off x="1170432" y="4727448"/>
            <a:ext cx="118872" cy="118872"/>
          </a:xfrm>
          <a:prstGeom prst="ellipse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654296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Ideal for benefit-led messaging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783080"/>
            <a:ext cx="4864608" cy="4370832"/>
          </a:xfrm>
          <a:prstGeom prst="roundRect">
            <a:avLst/>
          </a:prstGeom>
          <a:solidFill>
            <a:srgbClr val="FFFFFF"/>
          </a:solidFill>
          <a:ln>
            <a:solidFill>
              <a:srgbClr val="DB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65392" y="2029968"/>
            <a:ext cx="1417320" cy="310896"/>
          </a:xfrm>
          <a:prstGeom prst="roundRect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TITANIUM</a:t>
            </a:r>
          </a:p>
        </p:txBody>
      </p:sp>
      <p:pic>
        <p:nvPicPr>
          <p:cNvPr id="18" name="Picture 17" descr="trim_mc_titan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892807"/>
            <a:ext cx="2148840" cy="14215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6656832" y="3410712"/>
            <a:ext cx="118872" cy="118872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3337560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Everyday rewards</a:t>
            </a:r>
          </a:p>
        </p:txBody>
      </p:sp>
      <p:sp>
        <p:nvSpPr>
          <p:cNvPr id="21" name="Oval 20"/>
          <p:cNvSpPr/>
          <p:nvPr/>
        </p:nvSpPr>
        <p:spPr>
          <a:xfrm>
            <a:off x="6656832" y="3849624"/>
            <a:ext cx="118872" cy="118872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776472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Clean Mastercard design</a:t>
            </a:r>
          </a:p>
        </p:txBody>
      </p:sp>
      <p:sp>
        <p:nvSpPr>
          <p:cNvPr id="23" name="Oval 22"/>
          <p:cNvSpPr/>
          <p:nvPr/>
        </p:nvSpPr>
        <p:spPr>
          <a:xfrm>
            <a:off x="6656832" y="4288536"/>
            <a:ext cx="118872" cy="118872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4215383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Best for practical use</a:t>
            </a:r>
          </a:p>
        </p:txBody>
      </p:sp>
      <p:sp>
        <p:nvSpPr>
          <p:cNvPr id="25" name="Oval 24"/>
          <p:cNvSpPr/>
          <p:nvPr/>
        </p:nvSpPr>
        <p:spPr>
          <a:xfrm>
            <a:off x="6656832" y="4727448"/>
            <a:ext cx="118872" cy="118872"/>
          </a:xfrm>
          <a:prstGeom prst="ellipse">
            <a:avLst/>
          </a:prstGeom>
          <a:solidFill>
            <a:srgbClr val="004A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4654296"/>
            <a:ext cx="370332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Ideal for simple value messaging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ght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85800" y="640080"/>
            <a:ext cx="5532120" cy="5577840"/>
          </a:xfrm>
          <a:prstGeom prst="roundRect">
            <a:avLst/>
          </a:prstGeom>
          <a:solidFill>
            <a:srgbClr val="FFFFFF"/>
          </a:solidFill>
          <a:ln>
            <a:solidFill>
              <a:srgbClr val="E0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024128"/>
            <a:ext cx="475488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02455"/>
                </a:solidFill>
                <a:latin typeface="Aptos"/>
              </a:rPr>
              <a:t>Simple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1664208"/>
            <a:ext cx="4526280" cy="749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5C6C7C"/>
                </a:solidFill>
                <a:latin typeface="Aptos"/>
              </a:rPr>
              <a:t>ADIB cards combine recognizable branding, daily value, and secure payment convenience.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69848" y="2743200"/>
            <a:ext cx="292608" cy="292608"/>
          </a:xfrm>
          <a:prstGeom prst="round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734056"/>
            <a:ext cx="4206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Recognizable ADIB visual identity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" y="3246120"/>
            <a:ext cx="292608" cy="292608"/>
          </a:xfrm>
          <a:prstGeom prst="round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236976"/>
            <a:ext cx="4206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Clear card tiers for different needs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3749039"/>
            <a:ext cx="292608" cy="292608"/>
          </a:xfrm>
          <a:prstGeom prst="round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39896"/>
            <a:ext cx="4206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Benefits shown with minimal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" y="4251959"/>
            <a:ext cx="292608" cy="292608"/>
          </a:xfrm>
          <a:prstGeom prst="roundRect">
            <a:avLst/>
          </a:prstGeom>
          <a:solidFill>
            <a:srgbClr val="00A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DejaVu San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242816"/>
            <a:ext cx="4206240" cy="2926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C2632"/>
                </a:solidFill>
                <a:latin typeface="Aptos"/>
              </a:rPr>
              <a:t>Readable layout for presentation use</a:t>
            </a:r>
          </a:p>
        </p:txBody>
      </p:sp>
      <p:pic>
        <p:nvPicPr>
          <p:cNvPr id="14" name="Picture 13" descr="trim_adib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914400"/>
            <a:ext cx="2926080" cy="54864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84264" y="2286000"/>
            <a:ext cx="4343400" cy="1828800"/>
          </a:xfrm>
          <a:prstGeom prst="roundRect">
            <a:avLst/>
          </a:prstGeom>
          <a:solidFill>
            <a:srgbClr val="D2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ards_sta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212848"/>
            <a:ext cx="4343400" cy="1828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29400" y="4800600"/>
            <a:ext cx="43434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002455"/>
                </a:solidFill>
                <a:latin typeface="Aptos"/>
              </a:rP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358384"/>
            <a:ext cx="434340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5C6C7C"/>
                </a:solidFill>
                <a:latin typeface="Aptos"/>
              </a:rPr>
              <a:t>Prepared as a clean, visual ADIB card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ADIB Card Portfolio Presentation</dc:title>
  <dc:subject>Simple visual presentation for ADIB card imagery</dc:subject>
  <dc:creator>Cursor 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